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Sales call" id="{aea5b775-273e-ced6-67f2-7e88f7809fc3}">
          <p14:sldIdLst>
            <p14:sldId id="256"/>
            <p14:sldId id="257"/>
            <p14:sldId id="258"/>
            <p14:sldId id="259"/>
          </p14:sldIdLst>
        </p14:section>
        <p14:section name="Template layouts" id="{04e9aab8-843c-7b17-73f6-932a3ebb7d4e}">
          <p14:sldIdLst>
            <p14:sldId id="260"/>
            <p14:sldId id="261"/>
            <p14:sldId id="262"/>
            <p14:sldId id="263"/>
            <p14:sldId id="264"/>
            <p14:sldId id="265"/>
          </p14:sldIdLst>
        </p14:section>
        <p14:section name="Close" id="{9f83ba1e-f66e-5786-95ce-3a68cd8378f1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7-1.png"/><Relationship Id="rId2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8-1.png"/><Relationship Id="rId2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9-1.png"/><Relationship Id="rId2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10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hit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Sky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- Warm">
    <p:bg>
      <p:bgPr>
        <a:solidFill>
          <a:srgbClr val="F1F0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plit - Image r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350000" y="0"/>
            <a:ext cx="5842000" cy="6858000"/>
          </a:xfrm>
          <a:prstGeom prst="rect">
            <a:avLst/>
          </a:prstGeom>
          <a:solidFill>
            <a:srgbClr val="DDEFFF"/>
          </a:solidFill>
          <a:ln w="12700">
            <a:solidFill>
              <a:srgbClr val="DDEFFF"/>
            </a:solidFill>
            <a:prstDash val="solid"/>
          </a:ln>
        </p:spPr>
      </p:sp>
      <p:sp>
        <p:nvSpPr>
          <p:cNvPr id="3" name="Text 1"/>
          <p:cNvSpPr/>
          <p:nvPr>
            <p:ph idx="101" hasCustomPrompt="1"/>
          </p:nvPr>
        </p:nvSpPr>
        <p:spPr>
          <a:xfrm>
            <a:off x="6350000" y="0"/>
            <a:ext cx="5842000" cy="685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Image or product screenshot</a:t>
            </a:r>
            <a:endParaRPr lang="en-US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812800" y="762000"/>
            <a:ext cx="4953000" cy="5842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5" name="Text 1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4958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bg>
      <p:bgPr>
        <a:solidFill>
          <a:srgbClr val="F1F0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- Blue">
    <p:bg>
      <p:bgPr>
        <a:solidFill>
          <a:srgbClr val="006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ection-da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BFD8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1007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- Sky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ection-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indent="0" marL="0"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4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5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defRPr>
            </a:lvl1pPr>
          </a:lstStyle>
          <a:p>
            <a:pPr indent="0" marL="0"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6" name="Text 0"/>
          <p:cNvSpPr/>
          <p:nvPr/>
        </p:nvSpPr>
        <p:spPr>
          <a:xfrm>
            <a:off x="812800" y="6248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inboxally.com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1008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DDE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cov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 and A">
    <p:bg>
      <p:bgPr>
        <a:solidFill>
          <a:srgbClr val="0062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q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jpg"/><Relationship Id="rId3" Type="http://schemas.openxmlformats.org/officeDocument/2006/relationships/image" Target="../media/image-1-3.jpg"/><Relationship Id="rId4" Type="http://schemas.openxmlformats.org/officeDocument/2006/relationships/slideLayout" Target="../slideLayouts/slideLayout9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6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0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3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boxAlly — The Ultimate Email Deliverability Tool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711200"/>
            <a:ext cx="2844800" cy="590550"/>
          </a:xfrm>
          <a:prstGeom prst="rect">
            <a:avLst/>
          </a:prstGeom>
        </p:spPr>
      </p:pic>
      <p:sp>
        <p:nvSpPr>
          <p:cNvPr id="3" name="Text 1"/>
          <p:cNvSpPr txBox="1"/>
          <p:nvPr/>
        </p:nvSpPr>
        <p:spPr>
          <a:xfrm>
            <a:off x="7569200" y="787400"/>
            <a:ext cx="381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DELIVERABILITY STRATEGY CALL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7569200" y="1028700"/>
            <a:ext cx="381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[Date]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12800" y="22606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</a:t>
            </a:r>
            <a:endParaRPr lang="en-US" sz="1200" dirty="0"/>
          </a:p>
        </p:txBody>
      </p:sp>
      <p:sp>
        <p:nvSpPr>
          <p:cNvPr id="6" name="Client name"/>
          <p:cNvSpPr txBox="1"/>
          <p:nvPr/>
        </p:nvSpPr>
        <p:spPr>
          <a:xfrm>
            <a:off x="812800" y="2501900"/>
            <a:ext cx="6350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6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[Client name]</a:t>
            </a:r>
            <a:endParaRPr lang="en-US" sz="6800" dirty="0"/>
          </a:p>
        </p:txBody>
      </p:sp>
      <p:sp>
        <p:nvSpPr>
          <p:cNvPr id="7" name="Text 4"/>
          <p:cNvSpPr txBox="1"/>
          <p:nvPr/>
        </p:nvSpPr>
        <p:spPr>
          <a:xfrm>
            <a:off x="812800" y="3556000"/>
            <a:ext cx="8255000" cy="406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Better inbox results. Zero platform changes.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812800" y="5410200"/>
            <a:ext cx="4699000" cy="12700"/>
          </a:xfrm>
          <a:prstGeom prst="rect">
            <a:avLst/>
          </a:prstGeom>
          <a:solidFill>
            <a:srgbClr val="90BDFE"/>
          </a:solidFill>
          <a:ln w="12700">
            <a:solidFill>
              <a:srgbClr val="90BDFE"/>
            </a:solidFill>
            <a:prstDash val="solid"/>
          </a:ln>
        </p:spPr>
      </p:sp>
      <p:pic>
        <p:nvPicPr>
          <p:cNvPr id="9" name="Darren Blumenfeld" descr="Darren Blumenfel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800" y="5638800"/>
            <a:ext cx="508000" cy="508000"/>
          </a:xfrm>
          <a:prstGeom prst="ellipse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1447800" y="5664200"/>
            <a:ext cx="1905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Blumenfeld</a:t>
            </a:r>
            <a:endParaRPr lang="en-US" sz="1400" dirty="0"/>
          </a:p>
        </p:txBody>
      </p:sp>
      <p:sp>
        <p:nvSpPr>
          <p:cNvPr id="11" name="Text 6"/>
          <p:cNvSpPr txBox="1"/>
          <p:nvPr/>
        </p:nvSpPr>
        <p:spPr>
          <a:xfrm>
            <a:off x="1447800" y="5905500"/>
            <a:ext cx="1905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200" dirty="0"/>
          </a:p>
        </p:txBody>
      </p:sp>
      <p:pic>
        <p:nvPicPr>
          <p:cNvPr id="12" name="Matt Rice" descr="Matt Ric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02000" y="5638800"/>
            <a:ext cx="508000" cy="508000"/>
          </a:xfrm>
          <a:prstGeom prst="ellipse">
            <a:avLst/>
          </a:prstGeom>
        </p:spPr>
      </p:pic>
      <p:sp>
        <p:nvSpPr>
          <p:cNvPr id="13" name="Text 7"/>
          <p:cNvSpPr txBox="1"/>
          <p:nvPr/>
        </p:nvSpPr>
        <p:spPr>
          <a:xfrm>
            <a:off x="3937000" y="5664200"/>
            <a:ext cx="2159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 Rice</a:t>
            </a:r>
            <a:endParaRPr lang="en-US" sz="1400" dirty="0"/>
          </a:p>
        </p:txBody>
      </p:sp>
      <p:sp>
        <p:nvSpPr>
          <p:cNvPr id="14" name="Text 8"/>
          <p:cNvSpPr txBox="1"/>
          <p:nvPr/>
        </p:nvSpPr>
        <p:spPr>
          <a:xfrm>
            <a:off x="3937000" y="5905500"/>
            <a:ext cx="2413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Deliverability Coach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Aligning on your deliverability goals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5715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Much more than warming up a list.</a:t>
            </a:r>
            <a:endParaRPr lang="en-US" sz="1800" dirty="0"/>
          </a:p>
        </p:txBody>
      </p:sp>
      <p:pic>
        <p:nvPicPr>
          <p:cNvPr id="4" name="Image 0" descr="/tmp/claude-0/-home-user-Final/02da8cb1-f079-5a23-9739-98d18226fc3c/scratchpad/pptx/art/align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61000" y="1143000"/>
            <a:ext cx="6350000" cy="889000"/>
          </a:xfrm>
          <a:prstGeom prst="rect">
            <a:avLst/>
          </a:prstGeom>
        </p:spPr>
      </p:pic>
      <p:sp>
        <p:nvSpPr>
          <p:cNvPr id="5" name="Chevron"/>
          <p:cNvSpPr/>
          <p:nvPr/>
        </p:nvSpPr>
        <p:spPr>
          <a:xfrm>
            <a:off x="812800" y="1968500"/>
            <a:ext cx="3467100" cy="901700"/>
          </a:xfrm>
          <a:prstGeom prst="homePlate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6" name="Chevron"/>
          <p:cNvSpPr/>
          <p:nvPr/>
        </p:nvSpPr>
        <p:spPr>
          <a:xfrm>
            <a:off x="4368800" y="1968500"/>
            <a:ext cx="3467100" cy="901700"/>
          </a:xfrm>
          <a:prstGeom prst="chevron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7" name="Chevron"/>
          <p:cNvSpPr/>
          <p:nvPr/>
        </p:nvSpPr>
        <p:spPr>
          <a:xfrm>
            <a:off x="7912100" y="1968500"/>
            <a:ext cx="3467100" cy="901700"/>
          </a:xfrm>
          <a:prstGeom prst="chevron">
            <a:avLst/>
          </a:prstGeom>
          <a:solidFill>
            <a:srgbClr val="FFFFFF">
              <a:alpha val="6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8" name="Text 9"/>
          <p:cNvSpPr txBox="1"/>
          <p:nvPr/>
        </p:nvSpPr>
        <p:spPr>
          <a:xfrm>
            <a:off x="11176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2019 · Origins</a:t>
            </a:r>
            <a:endParaRPr lang="en-US" sz="2000" dirty="0"/>
          </a:p>
        </p:txBody>
      </p:sp>
      <p:sp>
        <p:nvSpPr>
          <p:cNvPr id="9" name="Text 10"/>
          <p:cNvSpPr txBox="1"/>
          <p:nvPr/>
        </p:nvSpPr>
        <p:spPr>
          <a:xfrm>
            <a:off x="49530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problem</a:t>
            </a:r>
            <a:endParaRPr lang="en-US" sz="2000" dirty="0"/>
          </a:p>
        </p:txBody>
      </p:sp>
      <p:sp>
        <p:nvSpPr>
          <p:cNvPr id="10" name="Text 11"/>
          <p:cNvSpPr txBox="1"/>
          <p:nvPr/>
        </p:nvSpPr>
        <p:spPr>
          <a:xfrm>
            <a:off x="8496300" y="2260600"/>
            <a:ext cx="2794000" cy="355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solution</a:t>
            </a:r>
            <a:endParaRPr lang="en-US" sz="2000" dirty="0"/>
          </a:p>
        </p:txBody>
      </p:sp>
      <p:sp>
        <p:nvSpPr>
          <p:cNvPr id="11" name="Text 12"/>
          <p:cNvSpPr txBox="1"/>
          <p:nvPr/>
        </p:nvSpPr>
        <p:spPr>
          <a:xfrm>
            <a:off x="1117600" y="3098800"/>
            <a:ext cx="2921000" cy="139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founded InboxAlly in 2019 after spending 10 years running an Email Service Provider (ESP).</a:t>
            </a:r>
            <a:endParaRPr lang="en-US" sz="1400" dirty="0"/>
          </a:p>
        </p:txBody>
      </p:sp>
      <p:sp>
        <p:nvSpPr>
          <p:cNvPr id="12" name="Text 13"/>
          <p:cNvSpPr txBox="1"/>
          <p:nvPr/>
        </p:nvSpPr>
        <p:spPr>
          <a:xfrm>
            <a:off x="4660900" y="3098800"/>
            <a:ext cx="2921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Legitimate senders with clean lists were still consistently landing in spam.</a:t>
            </a:r>
            <a:endParaRPr lang="en-US" sz="1400" dirty="0"/>
          </a:p>
        </p:txBody>
      </p:sp>
      <p:sp>
        <p:nvSpPr>
          <p:cNvPr id="13" name="Text 14"/>
          <p:cNvSpPr txBox="1"/>
          <p:nvPr/>
        </p:nvSpPr>
        <p:spPr>
          <a:xfrm>
            <a:off x="8204200" y="3098800"/>
            <a:ext cx="30480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Darren built InboxAlly to fix placement visibility, reputation repair, and the engagement signals mailbox providers use to decide who to trust.</a:t>
            </a:r>
            <a:endParaRPr lang="en-US" sz="1400" dirty="0"/>
          </a:p>
        </p:txBody>
      </p:sp>
      <p:sp>
        <p:nvSpPr>
          <p:cNvPr id="14" name="Over to you band"/>
          <p:cNvSpPr/>
          <p:nvPr/>
        </p:nvSpPr>
        <p:spPr>
          <a:xfrm>
            <a:off x="812800" y="4876800"/>
            <a:ext cx="10566400" cy="1117600"/>
          </a:xfrm>
          <a:prstGeom prst="roundRect">
            <a:avLst>
              <a:gd name="adj" fmla="val 11364"/>
            </a:avLst>
          </a:prstGeom>
          <a:solidFill>
            <a:srgbClr val="0062FF"/>
          </a:solidFill>
          <a:ln w="12700">
            <a:solidFill>
              <a:srgbClr val="0062FF"/>
            </a:solidFill>
            <a:prstDash val="solid"/>
          </a:ln>
        </p:spPr>
      </p:sp>
      <p:sp>
        <p:nvSpPr>
          <p:cNvPr id="15" name="Text 15"/>
          <p:cNvSpPr txBox="1"/>
          <p:nvPr/>
        </p:nvSpPr>
        <p:spPr>
          <a:xfrm>
            <a:off x="1168400" y="4876800"/>
            <a:ext cx="2159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Over to you</a:t>
            </a:r>
            <a:endParaRPr lang="en-US" sz="2200" dirty="0"/>
          </a:p>
        </p:txBody>
      </p:sp>
      <p:sp>
        <p:nvSpPr>
          <p:cNvPr id="16" name="Text 16"/>
          <p:cNvSpPr txBox="1"/>
          <p:nvPr/>
        </p:nvSpPr>
        <p:spPr>
          <a:xfrm>
            <a:off x="3683000" y="4876800"/>
            <a:ext cx="33147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 a bit about yourselves and your team.</a:t>
            </a:r>
            <a:endParaRPr lang="en-US" sz="1400" dirty="0"/>
          </a:p>
        </p:txBody>
      </p:sp>
      <p:sp>
        <p:nvSpPr>
          <p:cNvPr id="17" name="Text 17"/>
          <p:cNvSpPr txBox="1"/>
          <p:nvPr/>
        </p:nvSpPr>
        <p:spPr>
          <a:xfrm>
            <a:off x="7353300" y="4876800"/>
            <a:ext cx="3683000" cy="1117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Outline the current deliverability issues you are running into right now.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platform &amp; customer-reported results</a:t>
            </a:r>
            <a:endParaRPr lang="en-US" sz="3600" dirty="0"/>
          </a:p>
        </p:txBody>
      </p:sp>
      <p:pic>
        <p:nvPicPr>
          <p:cNvPr id="3" name="Image 0" descr="Dartboard diagram of the five platform featu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9000" y="1663700"/>
            <a:ext cx="2413000" cy="4064000"/>
          </a:xfrm>
          <a:prstGeom prst="rect">
            <a:avLst/>
          </a:prstGeom>
        </p:spPr>
      </p:pic>
      <p:sp>
        <p:nvSpPr>
          <p:cNvPr id="4" name="Badge 1"/>
          <p:cNvSpPr/>
          <p:nvPr/>
        </p:nvSpPr>
        <p:spPr>
          <a:xfrm>
            <a:off x="1447800" y="200025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Text 18"/>
          <p:cNvSpPr txBox="1"/>
          <p:nvPr/>
        </p:nvSpPr>
        <p:spPr>
          <a:xfrm>
            <a:off x="1447800" y="200025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6" name="Badge 2"/>
          <p:cNvSpPr/>
          <p:nvPr/>
        </p:nvSpPr>
        <p:spPr>
          <a:xfrm>
            <a:off x="2266950" y="25908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19"/>
          <p:cNvSpPr txBox="1"/>
          <p:nvPr/>
        </p:nvSpPr>
        <p:spPr>
          <a:xfrm>
            <a:off x="2266950" y="25908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8" name="Badge 3"/>
          <p:cNvSpPr/>
          <p:nvPr/>
        </p:nvSpPr>
        <p:spPr>
          <a:xfrm>
            <a:off x="2578100" y="35560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20"/>
          <p:cNvSpPr txBox="1"/>
          <p:nvPr/>
        </p:nvSpPr>
        <p:spPr>
          <a:xfrm>
            <a:off x="2578100" y="35560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0" name="Badge 4"/>
          <p:cNvSpPr/>
          <p:nvPr/>
        </p:nvSpPr>
        <p:spPr>
          <a:xfrm>
            <a:off x="2266950" y="452120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21"/>
          <p:cNvSpPr txBox="1"/>
          <p:nvPr/>
        </p:nvSpPr>
        <p:spPr>
          <a:xfrm>
            <a:off x="2266950" y="452120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12" name="Badge 5"/>
          <p:cNvSpPr/>
          <p:nvPr/>
        </p:nvSpPr>
        <p:spPr>
          <a:xfrm>
            <a:off x="1447800" y="5111750"/>
            <a:ext cx="279400" cy="279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22"/>
          <p:cNvSpPr txBox="1"/>
          <p:nvPr/>
        </p:nvSpPr>
        <p:spPr>
          <a:xfrm>
            <a:off x="1447800" y="5111750"/>
            <a:ext cx="2794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14" name="Text 23"/>
          <p:cNvSpPr txBox="1"/>
          <p:nvPr/>
        </p:nvSpPr>
        <p:spPr>
          <a:xfrm>
            <a:off x="3556000" y="16637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15" name="Text 24"/>
          <p:cNvSpPr txBox="1"/>
          <p:nvPr/>
        </p:nvSpPr>
        <p:spPr>
          <a:xfrm>
            <a:off x="3886200" y="16637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seed engagement</a:t>
            </a:r>
            <a:endParaRPr lang="en-US" sz="1500" dirty="0"/>
          </a:p>
        </p:txBody>
      </p:sp>
      <p:sp>
        <p:nvSpPr>
          <p:cNvPr id="16" name="Text 25"/>
          <p:cNvSpPr txBox="1"/>
          <p:nvPr/>
        </p:nvSpPr>
        <p:spPr>
          <a:xfrm>
            <a:off x="3886200" y="19304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interactions in Gmail, Workspace, Microsoft consumer, M365, and Yahoo.</a:t>
            </a:r>
            <a:endParaRPr lang="en-US" sz="1200" dirty="0"/>
          </a:p>
        </p:txBody>
      </p:sp>
      <p:sp>
        <p:nvSpPr>
          <p:cNvPr id="17" name="Text 26"/>
          <p:cNvSpPr txBox="1"/>
          <p:nvPr/>
        </p:nvSpPr>
        <p:spPr>
          <a:xfrm>
            <a:off x="3556000" y="25019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27"/>
          <p:cNvSpPr txBox="1"/>
          <p:nvPr/>
        </p:nvSpPr>
        <p:spPr>
          <a:xfrm>
            <a:off x="3886200" y="25019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integration</a:t>
            </a:r>
            <a:endParaRPr lang="en-US" sz="1500" dirty="0"/>
          </a:p>
        </p:txBody>
      </p:sp>
      <p:sp>
        <p:nvSpPr>
          <p:cNvPr id="19" name="Text 28"/>
          <p:cNvSpPr txBox="1"/>
          <p:nvPr/>
        </p:nvSpPr>
        <p:spPr>
          <a:xfrm>
            <a:off x="3886200" y="27686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 Google Postmaster Tools integration for authoritative health metrics.</a:t>
            </a:r>
            <a:endParaRPr lang="en-US" sz="1200" dirty="0"/>
          </a:p>
        </p:txBody>
      </p:sp>
      <p:sp>
        <p:nvSpPr>
          <p:cNvPr id="20" name="Text 29"/>
          <p:cNvSpPr txBox="1"/>
          <p:nvPr/>
        </p:nvSpPr>
        <p:spPr>
          <a:xfrm>
            <a:off x="3556000" y="33401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30"/>
          <p:cNvSpPr txBox="1"/>
          <p:nvPr/>
        </p:nvSpPr>
        <p:spPr>
          <a:xfrm>
            <a:off x="3886200" y="33401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 suite</a:t>
            </a:r>
            <a:endParaRPr lang="en-US" sz="1500" dirty="0"/>
          </a:p>
        </p:txBody>
      </p:sp>
      <p:sp>
        <p:nvSpPr>
          <p:cNvPr id="22" name="Text 31"/>
          <p:cNvSpPr txBox="1"/>
          <p:nvPr/>
        </p:nvSpPr>
        <p:spPr>
          <a:xfrm>
            <a:off x="3886200" y="36068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 verification, IA Assistant, IA Score, and automated AI digest.</a:t>
            </a:r>
            <a:endParaRPr lang="en-US" sz="1200" dirty="0"/>
          </a:p>
        </p:txBody>
      </p:sp>
      <p:sp>
        <p:nvSpPr>
          <p:cNvPr id="23" name="Text 32"/>
          <p:cNvSpPr txBox="1"/>
          <p:nvPr/>
        </p:nvSpPr>
        <p:spPr>
          <a:xfrm>
            <a:off x="3556000" y="41783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33"/>
          <p:cNvSpPr txBox="1"/>
          <p:nvPr/>
        </p:nvSpPr>
        <p:spPr>
          <a:xfrm>
            <a:off x="3886200" y="41783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 with any ESP</a:t>
            </a:r>
            <a:endParaRPr lang="en-US" sz="1500" dirty="0"/>
          </a:p>
        </p:txBody>
      </p:sp>
      <p:sp>
        <p:nvSpPr>
          <p:cNvPr id="25" name="Text 34"/>
          <p:cNvSpPr txBox="1"/>
          <p:nvPr/>
        </p:nvSpPr>
        <p:spPr>
          <a:xfrm>
            <a:off x="3886200" y="44450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friction — no API keys, no credentials, and no DNS changes required.</a:t>
            </a:r>
            <a:endParaRPr lang="en-US" sz="1200" dirty="0"/>
          </a:p>
        </p:txBody>
      </p:sp>
      <p:sp>
        <p:nvSpPr>
          <p:cNvPr id="26" name="Text 35"/>
          <p:cNvSpPr txBox="1"/>
          <p:nvPr/>
        </p:nvSpPr>
        <p:spPr>
          <a:xfrm>
            <a:off x="3556000" y="5016500"/>
            <a:ext cx="2032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36"/>
          <p:cNvSpPr txBox="1"/>
          <p:nvPr/>
        </p:nvSpPr>
        <p:spPr>
          <a:xfrm>
            <a:off x="3886200" y="5016500"/>
            <a:ext cx="37338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&amp; training</a:t>
            </a:r>
            <a:endParaRPr lang="en-US" sz="1500" dirty="0"/>
          </a:p>
        </p:txBody>
      </p:sp>
      <p:sp>
        <p:nvSpPr>
          <p:cNvPr id="28" name="Text 37"/>
          <p:cNvSpPr txBox="1"/>
          <p:nvPr/>
        </p:nvSpPr>
        <p:spPr>
          <a:xfrm>
            <a:off x="3886200" y="5283200"/>
            <a:ext cx="3733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free tools and complete Platform Certification program.</a:t>
            </a:r>
            <a:endParaRPr lang="en-US" sz="1200" dirty="0"/>
          </a:p>
        </p:txBody>
      </p:sp>
      <p:sp>
        <p:nvSpPr>
          <p:cNvPr id="29" name="Results card"/>
          <p:cNvSpPr/>
          <p:nvPr/>
        </p:nvSpPr>
        <p:spPr>
          <a:xfrm>
            <a:off x="7975600" y="1663700"/>
            <a:ext cx="3403600" cy="4064000"/>
          </a:xfrm>
          <a:prstGeom prst="roundRect">
            <a:avLst>
              <a:gd name="adj" fmla="val 3731"/>
            </a:avLst>
          </a:prstGeom>
          <a:solidFill>
            <a:srgbClr val="DDEFFF"/>
          </a:solidFill>
          <a:ln w="12700">
            <a:solidFill>
              <a:srgbClr val="DDEFFF"/>
            </a:solidFill>
            <a:prstDash val="solid"/>
          </a:ln>
        </p:spPr>
      </p:sp>
      <p:sp>
        <p:nvSpPr>
          <p:cNvPr id="30" name="Text 38"/>
          <p:cNvSpPr txBox="1"/>
          <p:nvPr/>
        </p:nvSpPr>
        <p:spPr>
          <a:xfrm>
            <a:off x="8229600" y="1917700"/>
            <a:ext cx="28956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Results customers report</a:t>
            </a:r>
            <a:endParaRPr lang="en-US" sz="1700" dirty="0"/>
          </a:p>
        </p:txBody>
      </p:sp>
      <p:sp>
        <p:nvSpPr>
          <p:cNvPr id="31" name="Text 39"/>
          <p:cNvSpPr txBox="1"/>
          <p:nvPr/>
        </p:nvSpPr>
        <p:spPr>
          <a:xfrm>
            <a:off x="8229600" y="23622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“Emails went from 60% spam to 0% in about two months”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8229600" y="29591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3" name="Text 40"/>
          <p:cNvSpPr txBox="1"/>
          <p:nvPr/>
        </p:nvSpPr>
        <p:spPr>
          <a:xfrm>
            <a:off x="8229600" y="30607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“Domain reputation from Bad to High in roughly six weeks”</a:t>
            </a:r>
            <a:endParaRPr lang="en-US" sz="1300" dirty="0"/>
          </a:p>
        </p:txBody>
      </p:sp>
      <p:sp>
        <p:nvSpPr>
          <p:cNvPr id="34" name="Shape 31"/>
          <p:cNvSpPr/>
          <p:nvPr/>
        </p:nvSpPr>
        <p:spPr>
          <a:xfrm>
            <a:off x="8229600" y="36576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5" name="Text 41"/>
          <p:cNvSpPr txBox="1"/>
          <p:nvPr/>
        </p:nvSpPr>
        <p:spPr>
          <a:xfrm>
            <a:off x="8229600" y="37592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“By end of month, 100% of emails to inbox, 50–96% daily to Primary”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8229600" y="4356100"/>
            <a:ext cx="2895600" cy="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37" name="Text 42"/>
          <p:cNvSpPr txBox="1"/>
          <p:nvPr/>
        </p:nvSpPr>
        <p:spPr>
          <a:xfrm>
            <a:off x="8229600" y="4457700"/>
            <a:ext cx="28956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“Open rates from ~30% to 70%+”</a:t>
            </a:r>
            <a:endParaRPr lang="en-US" sz="1300" dirty="0"/>
          </a:p>
        </p:txBody>
      </p:sp>
      <p:sp>
        <p:nvSpPr>
          <p:cNvPr id="38" name="Case studies"/>
          <p:cNvSpPr txBox="1"/>
          <p:nvPr/>
        </p:nvSpPr>
        <p:spPr>
          <a:xfrm>
            <a:off x="8229600" y="4927600"/>
            <a:ext cx="2895600" cy="5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Published case studies: </a:t>
            </a:r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Seido Knives, Surveylab, Mas Vashu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Track record &amp; industry recognition</a:t>
            </a:r>
            <a:endParaRPr lang="en-US" sz="3600" dirty="0"/>
          </a:p>
        </p:txBody>
      </p:sp>
      <p:sp>
        <p:nvSpPr>
          <p:cNvPr id="3" name="Card"/>
          <p:cNvSpPr/>
          <p:nvPr/>
        </p:nvSpPr>
        <p:spPr>
          <a:xfrm>
            <a:off x="81280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4" name="Text 43"/>
          <p:cNvSpPr txBox="1"/>
          <p:nvPr/>
        </p:nvSpPr>
        <p:spPr>
          <a:xfrm>
            <a:off x="101600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Continuous operation</a:t>
            </a:r>
            <a:endParaRPr lang="en-US" sz="1500" dirty="0"/>
          </a:p>
        </p:txBody>
      </p:sp>
      <p:sp>
        <p:nvSpPr>
          <p:cNvPr id="5" name="Text 44"/>
          <p:cNvSpPr txBox="1"/>
          <p:nvPr/>
        </p:nvSpPr>
        <p:spPr>
          <a:xfrm>
            <a:off x="101600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Deliverability platform in continuous operation since 2019.</a:t>
            </a:r>
            <a:endParaRPr lang="en-US" sz="1300" dirty="0"/>
          </a:p>
        </p:txBody>
      </p:sp>
      <p:sp>
        <p:nvSpPr>
          <p:cNvPr id="6" name="Card"/>
          <p:cNvSpPr/>
          <p:nvPr/>
        </p:nvSpPr>
        <p:spPr>
          <a:xfrm>
            <a:off x="349885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5"/>
          <p:cNvSpPr txBox="1"/>
          <p:nvPr/>
        </p:nvSpPr>
        <p:spPr>
          <a:xfrm>
            <a:off x="370205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Scale &amp; adoption</a:t>
            </a:r>
            <a:endParaRPr lang="en-US" sz="1500" dirty="0"/>
          </a:p>
        </p:txBody>
      </p:sp>
      <p:sp>
        <p:nvSpPr>
          <p:cNvPr id="8" name="Text 46"/>
          <p:cNvSpPr txBox="1"/>
          <p:nvPr/>
        </p:nvSpPr>
        <p:spPr>
          <a:xfrm>
            <a:off x="370205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Hundreds of customers, from self-service senders to enterprise programs.</a:t>
            </a:r>
            <a:endParaRPr lang="en-US" sz="1300" dirty="0"/>
          </a:p>
        </p:txBody>
      </p:sp>
      <p:sp>
        <p:nvSpPr>
          <p:cNvPr id="9" name="Card"/>
          <p:cNvSpPr/>
          <p:nvPr/>
        </p:nvSpPr>
        <p:spPr>
          <a:xfrm>
            <a:off x="618490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47"/>
          <p:cNvSpPr txBox="1"/>
          <p:nvPr/>
        </p:nvSpPr>
        <p:spPr>
          <a:xfrm>
            <a:off x="638810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processing</a:t>
            </a:r>
            <a:endParaRPr lang="en-US" sz="1500" dirty="0"/>
          </a:p>
        </p:txBody>
      </p:sp>
      <p:sp>
        <p:nvSpPr>
          <p:cNvPr id="11" name="Text 48"/>
          <p:cNvSpPr txBox="1"/>
          <p:nvPr/>
        </p:nvSpPr>
        <p:spPr>
          <a:xfrm>
            <a:off x="638810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Billions of email messages processed across placement monitoring, list verification, and creative observation.</a:t>
            </a:r>
            <a:endParaRPr lang="en-US" sz="1300" dirty="0"/>
          </a:p>
        </p:txBody>
      </p:sp>
      <p:sp>
        <p:nvSpPr>
          <p:cNvPr id="12" name="Card"/>
          <p:cNvSpPr/>
          <p:nvPr/>
        </p:nvSpPr>
        <p:spPr>
          <a:xfrm>
            <a:off x="8870950" y="1663700"/>
            <a:ext cx="2508250" cy="196850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49"/>
          <p:cNvSpPr txBox="1"/>
          <p:nvPr/>
        </p:nvSpPr>
        <p:spPr>
          <a:xfrm>
            <a:off x="9074150" y="1866900"/>
            <a:ext cx="210185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Industry trust</a:t>
            </a:r>
            <a:endParaRPr lang="en-US" sz="1500" dirty="0"/>
          </a:p>
        </p:txBody>
      </p:sp>
      <p:sp>
        <p:nvSpPr>
          <p:cNvPr id="14" name="Text 50"/>
          <p:cNvSpPr txBox="1"/>
          <p:nvPr/>
        </p:nvSpPr>
        <p:spPr>
          <a:xfrm>
            <a:off x="9074150" y="2171700"/>
            <a:ext cx="21018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Relied on by agencies, ESPs, and deliverability consultants, as well as brands.</a:t>
            </a:r>
            <a:endParaRPr lang="en-US" sz="1300" dirty="0"/>
          </a:p>
        </p:txBody>
      </p:sp>
      <p:sp>
        <p:nvSpPr>
          <p:cNvPr id="15" name="Text 51"/>
          <p:cNvSpPr txBox="1"/>
          <p:nvPr/>
        </p:nvSpPr>
        <p:spPr>
          <a:xfrm>
            <a:off x="8128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SAMMY AWARDS</a:t>
            </a:r>
            <a:endParaRPr lang="en-US" sz="1200" dirty="0"/>
          </a:p>
        </p:txBody>
      </p:sp>
      <p:sp>
        <p:nvSpPr>
          <p:cNvPr id="16" name="Text 52"/>
          <p:cNvSpPr txBox="1"/>
          <p:nvPr/>
        </p:nvSpPr>
        <p:spPr>
          <a:xfrm>
            <a:off x="44704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CUSTOMER RATINGS</a:t>
            </a:r>
            <a:endParaRPr lang="en-US" sz="1200" dirty="0"/>
          </a:p>
        </p:txBody>
      </p:sp>
      <p:sp>
        <p:nvSpPr>
          <p:cNvPr id="17" name="Text 53"/>
          <p:cNvSpPr txBox="1"/>
          <p:nvPr/>
        </p:nvSpPr>
        <p:spPr>
          <a:xfrm>
            <a:off x="8128000" y="43180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MAY HAVE SEEN US AT</a:t>
            </a:r>
            <a:endParaRPr lang="en-US" sz="1200" dirty="0"/>
          </a:p>
        </p:txBody>
      </p:sp>
      <p:sp>
        <p:nvSpPr>
          <p:cNvPr id="18" name="Text 54"/>
          <p:cNvSpPr txBox="1"/>
          <p:nvPr/>
        </p:nvSpPr>
        <p:spPr>
          <a:xfrm>
            <a:off x="812800" y="4597400"/>
            <a:ext cx="3251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Catalyst – Email: Winner 2025 and 2026</a:t>
            </a:r>
            <a:endParaRPr lang="en-US" sz="1500" dirty="0"/>
          </a:p>
        </p:txBody>
      </p:sp>
      <p:sp>
        <p:nvSpPr>
          <p:cNvPr id="19" name="Text 55"/>
          <p:cNvSpPr txBox="1"/>
          <p:nvPr/>
        </p:nvSpPr>
        <p:spPr>
          <a:xfrm>
            <a:off x="4470400" y="45466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4.8</a:t>
            </a:r>
            <a:endParaRPr lang="en-US" sz="4400" dirty="0"/>
          </a:p>
        </p:txBody>
      </p:sp>
      <p:sp>
        <p:nvSpPr>
          <p:cNvPr id="20" name="Text 56"/>
          <p:cNvSpPr txBox="1"/>
          <p:nvPr/>
        </p:nvSpPr>
        <p:spPr>
          <a:xfrm>
            <a:off x="5588000" y="4864100"/>
            <a:ext cx="9525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Trustpilot</a:t>
            </a:r>
            <a:endParaRPr lang="en-US" sz="1400" dirty="0"/>
          </a:p>
        </p:txBody>
      </p:sp>
      <p:sp>
        <p:nvSpPr>
          <p:cNvPr id="21" name="Text 57"/>
          <p:cNvSpPr txBox="1"/>
          <p:nvPr/>
        </p:nvSpPr>
        <p:spPr>
          <a:xfrm>
            <a:off x="6604000" y="4546600"/>
            <a:ext cx="10795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44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4.6</a:t>
            </a:r>
            <a:endParaRPr lang="en-US" sz="4400" dirty="0"/>
          </a:p>
        </p:txBody>
      </p:sp>
      <p:sp>
        <p:nvSpPr>
          <p:cNvPr id="22" name="Text 58"/>
          <p:cNvSpPr txBox="1"/>
          <p:nvPr/>
        </p:nvSpPr>
        <p:spPr>
          <a:xfrm>
            <a:off x="7721600" y="4864100"/>
            <a:ext cx="508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</a:t>
            </a:r>
            <a:endParaRPr lang="en-US" sz="1400" dirty="0"/>
          </a:p>
        </p:txBody>
      </p:sp>
      <p:sp>
        <p:nvSpPr>
          <p:cNvPr id="23" name="Text 59"/>
          <p:cNvSpPr txBox="1"/>
          <p:nvPr/>
        </p:nvSpPr>
        <p:spPr>
          <a:xfrm>
            <a:off x="4470400" y="5245100"/>
            <a:ext cx="32512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G2 High Performer</a:t>
            </a:r>
            <a:endParaRPr lang="en-US" sz="1200" dirty="0"/>
          </a:p>
        </p:txBody>
      </p:sp>
      <p:sp>
        <p:nvSpPr>
          <p:cNvPr id="24" name="Text 60"/>
          <p:cNvSpPr txBox="1"/>
          <p:nvPr/>
        </p:nvSpPr>
        <p:spPr>
          <a:xfrm>
            <a:off x="8128000" y="4597400"/>
            <a:ext cx="3251200" cy="1079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MailCon, Email Innovator Summit, Affiliate Summit, Traffic &amp; Conversion Summit, MediaPost, Email Marketing Daily</a:t>
            </a:r>
            <a:endParaRPr lang="en-US" sz="1400" dirty="0"/>
          </a:p>
        </p:txBody>
      </p:sp>
      <p:pic>
        <p:nvPicPr>
          <p:cNvPr id="25" name="Image 0" descr="/tmp/claude-0/-home-user-Final/02da8cb1-f079-5a23-9739-98d18226fc3c/scratchpad/pptx/art/track-reco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286000" y="5524500"/>
            <a:ext cx="9652000" cy="8890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BFD8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01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BFD8FF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1" type="body" hasCustomPrompt="1"/>
          </p:nvPr>
        </p:nvSpPr>
        <p:spPr>
          <a:xfrm>
            <a:off x="812800" y="1905000"/>
            <a:ext cx="508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SECTION 02</a:t>
            </a:r>
            <a:endParaRPr lang="en-US" sz="1200" dirty="0"/>
          </a:p>
        </p:txBody>
      </p:sp>
      <p:sp>
        <p:nvSpPr>
          <p:cNvPr id="3" name="Text 0"/>
          <p:cNvSpPr/>
          <p:nvPr>
            <p:ph idx="102" type="title" hasCustomPrompt="1"/>
          </p:nvPr>
        </p:nvSpPr>
        <p:spPr>
          <a:xfrm>
            <a:off x="812800" y="2159000"/>
            <a:ext cx="9525000" cy="889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0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Section title</a:t>
            </a:r>
            <a:endParaRPr lang="en-US" sz="6000" dirty="0"/>
          </a:p>
        </p:txBody>
      </p:sp>
      <p:sp>
        <p:nvSpPr>
          <p:cNvPr id="4" name="Text 0"/>
          <p:cNvSpPr/>
          <p:nvPr>
            <p:ph idx="103" type="body" hasCustomPrompt="1"/>
          </p:nvPr>
        </p:nvSpPr>
        <p:spPr>
          <a:xfrm>
            <a:off x="812800" y="30861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that sets up what this section covers.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812800" y="762000"/>
            <a:ext cx="4953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4953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Text 61"/>
          <p:cNvSpPr txBox="1"/>
          <p:nvPr/>
        </p:nvSpPr>
        <p:spPr>
          <a:xfrm>
            <a:off x="812800" y="1968500"/>
            <a:ext cx="4953000" cy="952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Explain what the image or screenshot shows and why it matters. Two or three sentences is plenty.</a:t>
            </a:r>
            <a:endParaRPr lang="en-US" sz="1500" dirty="0"/>
          </a:p>
        </p:txBody>
      </p:sp>
      <p:sp>
        <p:nvSpPr>
          <p:cNvPr id="5" name="Text 62"/>
          <p:cNvSpPr txBox="1"/>
          <p:nvPr/>
        </p:nvSpPr>
        <p:spPr>
          <a:xfrm>
            <a:off x="812800" y="31623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63"/>
          <p:cNvSpPr txBox="1"/>
          <p:nvPr/>
        </p:nvSpPr>
        <p:spPr>
          <a:xfrm>
            <a:off x="1143000" y="31623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point to call out</a:t>
            </a:r>
            <a:endParaRPr lang="en-US" sz="1400" dirty="0"/>
          </a:p>
        </p:txBody>
      </p:sp>
      <p:sp>
        <p:nvSpPr>
          <p:cNvPr id="7" name="Text 64"/>
          <p:cNvSpPr txBox="1"/>
          <p:nvPr/>
        </p:nvSpPr>
        <p:spPr>
          <a:xfrm>
            <a:off x="812800" y="36068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8" name="Text 65"/>
          <p:cNvSpPr txBox="1"/>
          <p:nvPr/>
        </p:nvSpPr>
        <p:spPr>
          <a:xfrm>
            <a:off x="1143000" y="36068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point to call out</a:t>
            </a:r>
            <a:endParaRPr lang="en-US" sz="1400" dirty="0"/>
          </a:p>
        </p:txBody>
      </p:sp>
      <p:sp>
        <p:nvSpPr>
          <p:cNvPr id="9" name="Text 66"/>
          <p:cNvSpPr txBox="1"/>
          <p:nvPr/>
        </p:nvSpPr>
        <p:spPr>
          <a:xfrm>
            <a:off x="812800" y="40513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0" name="Text 67"/>
          <p:cNvSpPr txBox="1"/>
          <p:nvPr/>
        </p:nvSpPr>
        <p:spPr>
          <a:xfrm>
            <a:off x="1143000" y="4051300"/>
            <a:ext cx="46228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point to call out</a:t>
            </a:r>
            <a:endParaRPr lang="en-US" sz="1400" dirty="0"/>
          </a:p>
        </p:txBody>
      </p:sp>
      <p:sp>
        <p:nvSpPr>
          <p:cNvPr id="11" name="Text 1"/>
          <p:cNvSpPr/>
          <p:nvPr>
            <p:ph idx="101" hasCustomPrompt="1"/>
          </p:nvPr>
        </p:nvSpPr>
        <p:spPr>
          <a:xfrm>
            <a:off x="6350000" y="0"/>
            <a:ext cx="5842000" cy="6858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44958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Text 68"/>
          <p:cNvSpPr txBox="1"/>
          <p:nvPr/>
        </p:nvSpPr>
        <p:spPr>
          <a:xfrm>
            <a:off x="812800" y="1968500"/>
            <a:ext cx="5321300" cy="165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 this layout when a slide needs a proper paragraph. Lead with the main point, then add the context or detail that supports it. Keep paragraphs to four or five lines so they still read well on a shared screen.</a:t>
            </a:r>
            <a:endParaRPr lang="en-US" sz="1500" dirty="0"/>
          </a:p>
        </p:txBody>
      </p:sp>
      <p:sp>
        <p:nvSpPr>
          <p:cNvPr id="5" name="Text 69"/>
          <p:cNvSpPr txBox="1"/>
          <p:nvPr/>
        </p:nvSpPr>
        <p:spPr>
          <a:xfrm>
            <a:off x="812800" y="3810000"/>
            <a:ext cx="5321300" cy="698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en-US" sz="15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second short paragraph can carry an example, a caveat or what happens next.</a:t>
            </a:r>
            <a:endParaRPr lang="en-US" sz="1500" dirty="0"/>
          </a:p>
        </p:txBody>
      </p:sp>
      <p:sp>
        <p:nvSpPr>
          <p:cNvPr id="6" name="Key points card"/>
          <p:cNvSpPr/>
          <p:nvPr/>
        </p:nvSpPr>
        <p:spPr>
          <a:xfrm>
            <a:off x="6540500" y="1968500"/>
            <a:ext cx="4838700" cy="3175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70"/>
          <p:cNvSpPr txBox="1"/>
          <p:nvPr/>
        </p:nvSpPr>
        <p:spPr>
          <a:xfrm>
            <a:off x="6819900" y="2247900"/>
            <a:ext cx="42799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POINTS</a:t>
            </a:r>
            <a:endParaRPr lang="en-US" sz="1200" dirty="0"/>
          </a:p>
        </p:txBody>
      </p:sp>
      <p:sp>
        <p:nvSpPr>
          <p:cNvPr id="8" name="Text 71"/>
          <p:cNvSpPr txBox="1"/>
          <p:nvPr/>
        </p:nvSpPr>
        <p:spPr>
          <a:xfrm>
            <a:off x="6819900" y="26162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2"/>
          <p:cNvSpPr txBox="1"/>
          <p:nvPr/>
        </p:nvSpPr>
        <p:spPr>
          <a:xfrm>
            <a:off x="7150100" y="26162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supporting point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6819900" y="30353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1" name="Text 73"/>
          <p:cNvSpPr txBox="1"/>
          <p:nvPr/>
        </p:nvSpPr>
        <p:spPr>
          <a:xfrm>
            <a:off x="6819900" y="32004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74"/>
          <p:cNvSpPr txBox="1"/>
          <p:nvPr/>
        </p:nvSpPr>
        <p:spPr>
          <a:xfrm>
            <a:off x="7150100" y="32004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Second supporting point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6819900" y="36195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4" name="Text 75"/>
          <p:cNvSpPr txBox="1"/>
          <p:nvPr/>
        </p:nvSpPr>
        <p:spPr>
          <a:xfrm>
            <a:off x="6819900" y="37846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5" name="Text 76"/>
          <p:cNvSpPr txBox="1"/>
          <p:nvPr/>
        </p:nvSpPr>
        <p:spPr>
          <a:xfrm>
            <a:off x="7150100" y="37846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Third supporting point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6819900" y="4203700"/>
            <a:ext cx="42799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sp>
        <p:nvSpPr>
          <p:cNvPr id="17" name="Text 77"/>
          <p:cNvSpPr txBox="1"/>
          <p:nvPr/>
        </p:nvSpPr>
        <p:spPr>
          <a:xfrm>
            <a:off x="6819900" y="4368800"/>
            <a:ext cx="2032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b="1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78"/>
          <p:cNvSpPr txBox="1"/>
          <p:nvPr/>
        </p:nvSpPr>
        <p:spPr>
          <a:xfrm>
            <a:off x="7150100" y="4368800"/>
            <a:ext cx="394970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Fourth supporting point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Final/02da8cb1-f079-5a23-9739-98d18226fc3c/scratchpad/pptx/art/statem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40000" y="5905500"/>
            <a:ext cx="9652000" cy="889000"/>
          </a:xfrm>
          <a:prstGeom prst="rect">
            <a:avLst/>
          </a:prstGeom>
        </p:spPr>
      </p:pic>
      <p:sp>
        <p:nvSpPr>
          <p:cNvPr id="3" name="Text 79"/>
          <p:cNvSpPr txBox="1"/>
          <p:nvPr/>
        </p:nvSpPr>
        <p:spPr>
          <a:xfrm>
            <a:off x="812800" y="1460500"/>
            <a:ext cx="1270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0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“</a:t>
            </a:r>
            <a:endParaRPr lang="en-US" sz="10000" dirty="0"/>
          </a:p>
        </p:txBody>
      </p:sp>
      <p:sp>
        <p:nvSpPr>
          <p:cNvPr id="4" name="Statement"/>
          <p:cNvSpPr txBox="1"/>
          <p:nvPr/>
        </p:nvSpPr>
        <p:spPr>
          <a:xfrm>
            <a:off x="812800" y="2540000"/>
            <a:ext cx="10287000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line the audience should remember.</a:t>
            </a:r>
            <a:endParaRPr lang="en-US" sz="3600" dirty="0"/>
          </a:p>
        </p:txBody>
      </p:sp>
      <p:sp>
        <p:nvSpPr>
          <p:cNvPr id="5" name="Shape 2"/>
          <p:cNvSpPr/>
          <p:nvPr/>
        </p:nvSpPr>
        <p:spPr>
          <a:xfrm>
            <a:off x="812800" y="3937000"/>
            <a:ext cx="508000" cy="25400"/>
          </a:xfrm>
          <a:prstGeom prst="rect">
            <a:avLst/>
          </a:prstGeom>
          <a:solidFill>
            <a:srgbClr val="FF3334"/>
          </a:solidFill>
          <a:ln w="12700">
            <a:solidFill>
              <a:srgbClr val="FF3334"/>
            </a:solidFill>
            <a:prstDash val="solid"/>
          </a:ln>
        </p:spPr>
      </p:sp>
      <p:sp>
        <p:nvSpPr>
          <p:cNvPr id="6" name="Attribution"/>
          <p:cNvSpPr txBox="1"/>
          <p:nvPr/>
        </p:nvSpPr>
        <p:spPr>
          <a:xfrm>
            <a:off x="812800" y="4140200"/>
            <a:ext cx="7620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Name, Job Title, Company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Slide title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short supporting line.</a:t>
            </a:r>
            <a:endParaRPr lang="en-US" sz="1800" dirty="0"/>
          </a:p>
        </p:txBody>
      </p:sp>
      <p:sp>
        <p:nvSpPr>
          <p:cNvPr id="4" name="Stat 1"/>
          <p:cNvSpPr txBox="1"/>
          <p:nvPr/>
        </p:nvSpPr>
        <p:spPr>
          <a:xfrm>
            <a:off x="8128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00%</a:t>
            </a:r>
            <a:endParaRPr lang="en-US" sz="7000" dirty="0"/>
          </a:p>
        </p:txBody>
      </p:sp>
      <p:sp>
        <p:nvSpPr>
          <p:cNvPr id="5" name="Text 80"/>
          <p:cNvSpPr txBox="1"/>
          <p:nvPr/>
        </p:nvSpPr>
        <p:spPr>
          <a:xfrm>
            <a:off x="8128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6" name="Text 81"/>
          <p:cNvSpPr txBox="1"/>
          <p:nvPr/>
        </p:nvSpPr>
        <p:spPr>
          <a:xfrm>
            <a:off x="8128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544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8" name="Stat 2"/>
          <p:cNvSpPr txBox="1"/>
          <p:nvPr/>
        </p:nvSpPr>
        <p:spPr>
          <a:xfrm>
            <a:off x="37084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0.0</a:t>
            </a:r>
            <a:endParaRPr lang="en-US" sz="7000" dirty="0"/>
          </a:p>
        </p:txBody>
      </p:sp>
      <p:sp>
        <p:nvSpPr>
          <p:cNvPr id="9" name="Text 82"/>
          <p:cNvSpPr txBox="1"/>
          <p:nvPr/>
        </p:nvSpPr>
        <p:spPr>
          <a:xfrm>
            <a:off x="37084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0" name="Text 83"/>
          <p:cNvSpPr txBox="1"/>
          <p:nvPr/>
        </p:nvSpPr>
        <p:spPr>
          <a:xfrm>
            <a:off x="37084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0960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12" name="Stat 3"/>
          <p:cNvSpPr txBox="1"/>
          <p:nvPr/>
        </p:nvSpPr>
        <p:spPr>
          <a:xfrm>
            <a:off x="63500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00x</a:t>
            </a:r>
            <a:endParaRPr lang="en-US" sz="7000" dirty="0"/>
          </a:p>
        </p:txBody>
      </p:sp>
      <p:sp>
        <p:nvSpPr>
          <p:cNvPr id="13" name="Text 84"/>
          <p:cNvSpPr txBox="1"/>
          <p:nvPr/>
        </p:nvSpPr>
        <p:spPr>
          <a:xfrm>
            <a:off x="63500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4" name="Text 85"/>
          <p:cNvSpPr txBox="1"/>
          <p:nvPr/>
        </p:nvSpPr>
        <p:spPr>
          <a:xfrm>
            <a:off x="63500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8737600" y="2540000"/>
            <a:ext cx="0" cy="1905000"/>
          </a:xfrm>
          <a:prstGeom prst="line">
            <a:avLst/>
          </a:prstGeom>
          <a:noFill/>
          <a:ln w="19050">
            <a:solidFill>
              <a:srgbClr val="90BDFE"/>
            </a:solidFill>
            <a:prstDash val="solid"/>
          </a:ln>
        </p:spPr>
      </p:sp>
      <p:sp>
        <p:nvSpPr>
          <p:cNvPr id="16" name="Stat 4"/>
          <p:cNvSpPr txBox="1"/>
          <p:nvPr/>
        </p:nvSpPr>
        <p:spPr>
          <a:xfrm>
            <a:off x="8991600" y="2540000"/>
            <a:ext cx="2286000" cy="101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70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000</a:t>
            </a:r>
            <a:endParaRPr lang="en-US" sz="7000" dirty="0"/>
          </a:p>
        </p:txBody>
      </p:sp>
      <p:sp>
        <p:nvSpPr>
          <p:cNvPr id="17" name="Text 86"/>
          <p:cNvSpPr txBox="1"/>
          <p:nvPr/>
        </p:nvSpPr>
        <p:spPr>
          <a:xfrm>
            <a:off x="8991600" y="3657600"/>
            <a:ext cx="22860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 label</a:t>
            </a:r>
            <a:endParaRPr lang="en-US" sz="1500" dirty="0"/>
          </a:p>
        </p:txBody>
      </p:sp>
      <p:sp>
        <p:nvSpPr>
          <p:cNvPr id="18" name="Text 87"/>
          <p:cNvSpPr txBox="1"/>
          <p:nvPr/>
        </p:nvSpPr>
        <p:spPr>
          <a:xfrm>
            <a:off x="8991600" y="3962400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line of context</a:t>
            </a:r>
            <a:endParaRPr lang="en-US" sz="1200" dirty="0"/>
          </a:p>
        </p:txBody>
      </p:sp>
      <p:sp>
        <p:nvSpPr>
          <p:cNvPr id="19" name="Text 88"/>
          <p:cNvSpPr txBox="1"/>
          <p:nvPr/>
        </p:nvSpPr>
        <p:spPr>
          <a:xfrm>
            <a:off x="812800" y="5715000"/>
            <a:ext cx="88900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5B64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add where these figures come from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boxAll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812800"/>
            <a:ext cx="2286000" cy="476250"/>
          </a:xfrm>
          <a:prstGeom prst="rect">
            <a:avLst/>
          </a:prstGeom>
        </p:spPr>
      </p:pic>
      <p:sp>
        <p:nvSpPr>
          <p:cNvPr id="3" name="Text 89"/>
          <p:cNvSpPr txBox="1"/>
          <p:nvPr/>
        </p:nvSpPr>
        <p:spPr>
          <a:xfrm>
            <a:off x="812800" y="1841500"/>
            <a:ext cx="9525000" cy="1206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8000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Questions?</a:t>
            </a:r>
            <a:endParaRPr lang="en-US" sz="8000" dirty="0"/>
          </a:p>
        </p:txBody>
      </p:sp>
      <p:sp>
        <p:nvSpPr>
          <p:cNvPr id="4" name="Text 90"/>
          <p:cNvSpPr txBox="1"/>
          <p:nvPr/>
        </p:nvSpPr>
        <p:spPr>
          <a:xfrm>
            <a:off x="812800" y="3175000"/>
            <a:ext cx="82550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DDE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talk it through.</a:t>
            </a:r>
            <a:endParaRPr lang="en-US" sz="2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12800" y="762000"/>
            <a:ext cx="10160000" cy="584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6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steps</a:t>
            </a:r>
            <a:endParaRPr lang="en-US" sz="3600" dirty="0"/>
          </a:p>
        </p:txBody>
      </p:sp>
      <p:sp>
        <p:nvSpPr>
          <p:cNvPr id="3" name="Subtitle"/>
          <p:cNvSpPr txBox="1"/>
          <p:nvPr/>
        </p:nvSpPr>
        <p:spPr>
          <a:xfrm>
            <a:off x="812800" y="1346200"/>
            <a:ext cx="8890000" cy="33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Here's what happens after today.</a:t>
            </a:r>
            <a:endParaRPr lang="en-US" sz="1800" dirty="0"/>
          </a:p>
        </p:txBody>
      </p:sp>
      <p:sp>
        <p:nvSpPr>
          <p:cNvPr id="4" name="Chevron"/>
          <p:cNvSpPr/>
          <p:nvPr/>
        </p:nvSpPr>
        <p:spPr>
          <a:xfrm>
            <a:off x="812800" y="19685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5" name="Text 91"/>
          <p:cNvSpPr txBox="1"/>
          <p:nvPr/>
        </p:nvSpPr>
        <p:spPr>
          <a:xfrm>
            <a:off x="1066800" y="19685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2800" dirty="0"/>
          </a:p>
        </p:txBody>
      </p:sp>
      <p:sp>
        <p:nvSpPr>
          <p:cNvPr id="6" name="Text 92"/>
          <p:cNvSpPr txBox="1"/>
          <p:nvPr/>
        </p:nvSpPr>
        <p:spPr>
          <a:xfrm>
            <a:off x="1625600" y="21463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7" name="Text 93"/>
          <p:cNvSpPr txBox="1"/>
          <p:nvPr/>
        </p:nvSpPr>
        <p:spPr>
          <a:xfrm>
            <a:off x="1625600" y="24765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8" name="Chevron"/>
          <p:cNvSpPr/>
          <p:nvPr/>
        </p:nvSpPr>
        <p:spPr>
          <a:xfrm>
            <a:off x="812800" y="29591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9" name="Text 94"/>
          <p:cNvSpPr txBox="1"/>
          <p:nvPr/>
        </p:nvSpPr>
        <p:spPr>
          <a:xfrm>
            <a:off x="1066800" y="29591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2800" dirty="0"/>
          </a:p>
        </p:txBody>
      </p:sp>
      <p:sp>
        <p:nvSpPr>
          <p:cNvPr id="10" name="Text 95"/>
          <p:cNvSpPr txBox="1"/>
          <p:nvPr/>
        </p:nvSpPr>
        <p:spPr>
          <a:xfrm>
            <a:off x="1625600" y="31369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11" name="Text 96"/>
          <p:cNvSpPr txBox="1"/>
          <p:nvPr/>
        </p:nvSpPr>
        <p:spPr>
          <a:xfrm>
            <a:off x="1625600" y="34671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12" name="Chevron"/>
          <p:cNvSpPr/>
          <p:nvPr/>
        </p:nvSpPr>
        <p:spPr>
          <a:xfrm>
            <a:off x="812800" y="3949700"/>
            <a:ext cx="5715000" cy="901700"/>
          </a:xfrm>
          <a:prstGeom prst="homePlate">
            <a:avLst/>
          </a:prstGeom>
          <a:solidFill>
            <a:srgbClr val="FFFFFF">
              <a:alpha val="70000"/>
            </a:srgbClr>
          </a:solidFill>
          <a:ln w="19050">
            <a:solidFill>
              <a:srgbClr val="0063FF"/>
            </a:solidFill>
            <a:prstDash val="solid"/>
          </a:ln>
        </p:spPr>
      </p:sp>
      <p:sp>
        <p:nvSpPr>
          <p:cNvPr id="13" name="Text 97"/>
          <p:cNvSpPr txBox="1"/>
          <p:nvPr/>
        </p:nvSpPr>
        <p:spPr>
          <a:xfrm>
            <a:off x="1066800" y="3949700"/>
            <a:ext cx="381000" cy="9017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2800" dirty="0">
                <a:solidFill>
                  <a:srgbClr val="0063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2800" dirty="0"/>
          </a:p>
        </p:txBody>
      </p:sp>
      <p:sp>
        <p:nvSpPr>
          <p:cNvPr id="14" name="Text 98"/>
          <p:cNvSpPr txBox="1"/>
          <p:nvPr/>
        </p:nvSpPr>
        <p:spPr>
          <a:xfrm>
            <a:off x="1625600" y="4127500"/>
            <a:ext cx="43180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800" dirty="0">
                <a:solidFill>
                  <a:srgbClr val="2A2A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Next step</a:t>
            </a:r>
            <a:endParaRPr lang="en-US" sz="1800" dirty="0"/>
          </a:p>
        </p:txBody>
      </p:sp>
      <p:sp>
        <p:nvSpPr>
          <p:cNvPr id="15" name="Text 99"/>
          <p:cNvSpPr txBox="1"/>
          <p:nvPr/>
        </p:nvSpPr>
        <p:spPr>
          <a:xfrm>
            <a:off x="1625600" y="4457700"/>
            <a:ext cx="4318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 and timing</a:t>
            </a:r>
            <a:endParaRPr lang="en-US" sz="1200" dirty="0"/>
          </a:p>
        </p:txBody>
      </p:sp>
      <p:sp>
        <p:nvSpPr>
          <p:cNvPr id="16" name="Contact card"/>
          <p:cNvSpPr/>
          <p:nvPr/>
        </p:nvSpPr>
        <p:spPr>
          <a:xfrm>
            <a:off x="7112000" y="1968500"/>
            <a:ext cx="4267200" cy="254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00"/>
          <p:cNvSpPr txBox="1"/>
          <p:nvPr/>
        </p:nvSpPr>
        <p:spPr>
          <a:xfrm>
            <a:off x="7391400" y="2247900"/>
            <a:ext cx="3708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b="1" spc="100" kern="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IN TOUCH</a:t>
            </a:r>
            <a:endParaRPr lang="en-US" sz="1200" dirty="0"/>
          </a:p>
        </p:txBody>
      </p:sp>
      <p:pic>
        <p:nvPicPr>
          <p:cNvPr id="18" name="Darren Blumenfeld" descr="Darren Blumenfel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91400" y="2628900"/>
            <a:ext cx="609600" cy="609600"/>
          </a:xfrm>
          <a:prstGeom prst="ellipse">
            <a:avLst/>
          </a:prstGeom>
        </p:spPr>
      </p:pic>
      <p:sp>
        <p:nvSpPr>
          <p:cNvPr id="19" name="Text 101"/>
          <p:cNvSpPr txBox="1"/>
          <p:nvPr/>
        </p:nvSpPr>
        <p:spPr>
          <a:xfrm>
            <a:off x="8153400" y="2616200"/>
            <a:ext cx="294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Darren Blumenfeld</a:t>
            </a:r>
            <a:endParaRPr lang="en-US" sz="1500" dirty="0"/>
          </a:p>
        </p:txBody>
      </p:sp>
      <p:sp>
        <p:nvSpPr>
          <p:cNvPr id="20" name="Text 102"/>
          <p:cNvSpPr txBox="1"/>
          <p:nvPr/>
        </p:nvSpPr>
        <p:spPr>
          <a:xfrm>
            <a:off x="8153400" y="28702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21" name="Text 103"/>
          <p:cNvSpPr txBox="1"/>
          <p:nvPr/>
        </p:nvSpPr>
        <p:spPr>
          <a:xfrm>
            <a:off x="8153400" y="30734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 address]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7391400" y="3416300"/>
            <a:ext cx="3708400" cy="0"/>
          </a:xfrm>
          <a:prstGeom prst="line">
            <a:avLst/>
          </a:prstGeom>
          <a:noFill/>
          <a:ln w="19050">
            <a:solidFill>
              <a:srgbClr val="DDEFFF"/>
            </a:solidFill>
            <a:prstDash val="solid"/>
          </a:ln>
        </p:spPr>
      </p:sp>
      <p:pic>
        <p:nvPicPr>
          <p:cNvPr id="23" name="Matt Rice" descr="Matt Ric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91400" y="3581400"/>
            <a:ext cx="609600" cy="609600"/>
          </a:xfrm>
          <a:prstGeom prst="ellipse">
            <a:avLst/>
          </a:prstGeom>
        </p:spPr>
      </p:pic>
      <p:sp>
        <p:nvSpPr>
          <p:cNvPr id="24" name="Text 104"/>
          <p:cNvSpPr txBox="1"/>
          <p:nvPr/>
        </p:nvSpPr>
        <p:spPr>
          <a:xfrm>
            <a:off x="8153400" y="3568700"/>
            <a:ext cx="2946400" cy="254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500" b="1" dirty="0">
                <a:solidFill>
                  <a:srgbClr val="2A2A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Matt Rice</a:t>
            </a:r>
            <a:endParaRPr lang="en-US" sz="1500" dirty="0"/>
          </a:p>
        </p:txBody>
      </p:sp>
      <p:sp>
        <p:nvSpPr>
          <p:cNvPr id="25" name="Text 105"/>
          <p:cNvSpPr txBox="1"/>
          <p:nvPr/>
        </p:nvSpPr>
        <p:spPr>
          <a:xfrm>
            <a:off x="8153400" y="38227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0063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Senior Deliverability Coach</a:t>
            </a:r>
            <a:endParaRPr lang="en-US" sz="1200" dirty="0"/>
          </a:p>
        </p:txBody>
      </p:sp>
      <p:sp>
        <p:nvSpPr>
          <p:cNvPr id="26" name="Text 106"/>
          <p:cNvSpPr txBox="1"/>
          <p:nvPr/>
        </p:nvSpPr>
        <p:spPr>
          <a:xfrm>
            <a:off x="8153400" y="4025900"/>
            <a:ext cx="2946400" cy="215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3D445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[email address]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109200" y="6248400"/>
            <a:ext cx="1270000" cy="2159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t"/>
          <a:lstStyle>
            <a:lvl1pPr>
              <a:defRPr sz="1200">
                <a:solidFill>
                  <a:srgbClr val="5B6472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nboxAlly">
  <a:themeElements>
    <a:clrScheme name="InboxAlly">
      <a:dk1>
        <a:srgbClr val="2A2A2A"/>
      </a:dk1>
      <a:lt1>
        <a:srgbClr val="FFFFFF"/>
      </a:lt1>
      <a:dk2>
        <a:srgbClr val="3D4451"/>
      </a:dk2>
      <a:lt2>
        <a:srgbClr val="DDEFFF"/>
      </a:lt2>
      <a:accent1>
        <a:srgbClr val="0063FF"/>
      </a:accent1>
      <a:accent2>
        <a:srgbClr val="FF3334"/>
      </a:accent2>
      <a:accent3>
        <a:srgbClr val="90BDFE"/>
      </a:accent3>
      <a:accent4>
        <a:srgbClr val="F1F0ED"/>
      </a:accent4>
      <a:accent5>
        <a:srgbClr val="5B6472"/>
      </a:accent5>
      <a:accent6>
        <a:srgbClr val="0047BA"/>
      </a:accent6>
      <a:hlink>
        <a:srgbClr val="0063FF"/>
      </a:hlink>
      <a:folHlink>
        <a:srgbClr val="0047BA"/>
      </a:folHlink>
    </a:clrScheme>
    <a:fontScheme name="InboxAlly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InboxAlly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InboxAlly Sales Call Deck</dc:title>
  <dc:subject>PptxGenJS Presentation</dc:subject>
  <dc:creator>PptxGenJS</dc:creator>
  <cp:lastModifiedBy>PptxGenJS</cp:lastModifiedBy>
  <cp:revision>1</cp:revision>
  <dcterms:created xsi:type="dcterms:W3CDTF">2026-10-15T21:43:52Z</dcterms:created>
  <dcterms:modified xsi:type="dcterms:W3CDTF">2026-10-15T21:43:52Z</dcterms:modified>
</cp:coreProperties>
</file>