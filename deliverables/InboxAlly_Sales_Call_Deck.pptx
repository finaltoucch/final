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les call" id="{c25827ab-f78b-aaa8-017e-99392a2c7377}">
          <p14:sldIdLst>
            <p14:sldId id="256"/>
            <p14:sldId id="257"/>
            <p14:sldId id="258"/>
            <p14:sldId id="259"/>
          </p14:sldIdLst>
        </p14:section>
        <p14:section name="Template layouts" id="{b5523fc8-13b4-07bd-6de5-8c342bb8f6f9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lose" id="{4196506d-f05d-f6ac-42a4-bde82357f5d3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2000"/>
            <a:ext cx="10160000" cy="584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812800" y="6248400"/>
            <a:ext cx="381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inboxally.com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Sky">
    <p:bg>
      <p:bgPr>
        <a:solidFill>
          <a:srgbClr val="DD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2000"/>
            <a:ext cx="10160000" cy="584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812800" y="6248400"/>
            <a:ext cx="381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inboxally.com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Warm"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2000"/>
            <a:ext cx="10160000" cy="584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812800" y="6248400"/>
            <a:ext cx="381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inboxally.com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 - Image r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0000" y="0"/>
            <a:ext cx="5842000" cy="6858000"/>
          </a:xfrm>
          <a:prstGeom prst="rect">
            <a:avLst/>
          </a:prstGeom>
          <a:solidFill>
            <a:srgbClr val="DDEFFF"/>
          </a:solidFill>
          <a:ln w="12700">
            <a:solidFill>
              <a:srgbClr val="DDEFFF"/>
            </a:solidFill>
            <a:prstDash val="solid"/>
          </a:ln>
        </p:spPr>
      </p:sp>
      <p:sp>
        <p:nvSpPr>
          <p:cNvPr id="3" name="Text 1"/>
          <p:cNvSpPr/>
          <p:nvPr>
            <p:ph idx="101" hasCustomPrompt="1"/>
          </p:nvPr>
        </p:nvSpPr>
        <p:spPr>
          <a:xfrm>
            <a:off x="6350000" y="0"/>
            <a:ext cx="584200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Image or product screenshot</a:t>
            </a:r>
            <a:endParaRPr lang="en-US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800" y="762000"/>
            <a:ext cx="4953000" cy="584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812800" y="6248400"/>
            <a:ext cx="381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inboxally.com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4958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1F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48400"/>
            <a:ext cx="381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inboxally.com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Blue">
    <p:bg>
      <p:bgPr>
        <a:solidFill>
          <a:srgbClr val="006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Final/02da8cb1-f079-5a23-9739-98d18226fc3c/scratchpad/pptx/art/sect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12800" y="1905000"/>
            <a:ext cx="5080000" cy="2159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00" kern="0" dirty="0">
                <a:solidFill>
                  <a:srgbClr val="BFD8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00" kern="0" dirty="0">
                <a:solidFill>
                  <a:srgbClr val="BF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12800" y="2159000"/>
            <a:ext cx="9525000" cy="889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6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12800" y="3086100"/>
            <a:ext cx="82550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DDE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DDE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line that sets up what this section covers.</a:t>
            </a:r>
            <a:endParaRPr lang="en-US" sz="2200" dirty="0"/>
          </a:p>
        </p:txBody>
      </p:sp>
      <p:sp>
        <p:nvSpPr>
          <p:cNvPr id="6" name="Text 0"/>
          <p:cNvSpPr/>
          <p:nvPr/>
        </p:nvSpPr>
        <p:spPr>
          <a:xfrm>
            <a:off x="812800" y="6248400"/>
            <a:ext cx="381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inboxally.com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BFD8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Sky">
    <p:bg>
      <p:bgPr>
        <a:solidFill>
          <a:srgbClr val="DD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Final/02da8cb1-f079-5a23-9739-98d18226fc3c/scratchpad/pptx/art/secti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12800" y="1905000"/>
            <a:ext cx="5080000" cy="2159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00" kern="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00" kern="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12800" y="2159000"/>
            <a:ext cx="9525000" cy="889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6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12800" y="3086100"/>
            <a:ext cx="82550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line that sets up what this section covers.</a:t>
            </a:r>
            <a:endParaRPr lang="en-US" sz="2200" dirty="0"/>
          </a:p>
        </p:txBody>
      </p:sp>
      <p:sp>
        <p:nvSpPr>
          <p:cNvPr id="6" name="Text 0"/>
          <p:cNvSpPr/>
          <p:nvPr/>
        </p:nvSpPr>
        <p:spPr>
          <a:xfrm>
            <a:off x="812800" y="6248400"/>
            <a:ext cx="381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inboxally.com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DD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Final/02da8cb1-f079-5a23-9739-98d18226fc3c/scratchpad/pptx/art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 and A">
    <p:bg>
      <p:bgPr>
        <a:solidFill>
          <a:srgbClr val="006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Final/02da8cb1-f079-5a23-9739-98d18226fc3c/scratchpad/pptx/art/q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boxAlly — The Ultimate Email Deliverability To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711200"/>
            <a:ext cx="2844800" cy="590550"/>
          </a:xfrm>
          <a:prstGeom prst="rect">
            <a:avLst/>
          </a:prstGeom>
        </p:spPr>
      </p:pic>
      <p:sp>
        <p:nvSpPr>
          <p:cNvPr id="3" name="Text 1"/>
          <p:cNvSpPr txBox="1"/>
          <p:nvPr/>
        </p:nvSpPr>
        <p:spPr>
          <a:xfrm>
            <a:off x="7874000" y="787400"/>
            <a:ext cx="3505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DELIVERABILITY STRATEGY CALL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874000" y="1028700"/>
            <a:ext cx="350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D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159000"/>
            <a:ext cx="508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</a:t>
            </a:r>
            <a:endParaRPr lang="en-US" sz="1200" dirty="0"/>
          </a:p>
        </p:txBody>
      </p:sp>
      <p:sp>
        <p:nvSpPr>
          <p:cNvPr id="6" name="Client name"/>
          <p:cNvSpPr txBox="1"/>
          <p:nvPr/>
        </p:nvSpPr>
        <p:spPr>
          <a:xfrm>
            <a:off x="812800" y="24003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[Client name]</a:t>
            </a:r>
            <a:endParaRPr lang="en-US" sz="6800" dirty="0"/>
          </a:p>
        </p:txBody>
      </p:sp>
      <p:sp>
        <p:nvSpPr>
          <p:cNvPr id="7" name="Text 4"/>
          <p:cNvSpPr txBox="1"/>
          <p:nvPr/>
        </p:nvSpPr>
        <p:spPr>
          <a:xfrm>
            <a:off x="812800" y="34544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inbox results.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platform changes.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12800" y="5410200"/>
            <a:ext cx="4699000" cy="12700"/>
          </a:xfrm>
          <a:prstGeom prst="rect">
            <a:avLst/>
          </a:prstGeom>
          <a:solidFill>
            <a:srgbClr val="90BDFE"/>
          </a:solidFill>
          <a:ln w="12700">
            <a:solidFill>
              <a:srgbClr val="90BDFE"/>
            </a:solidFill>
            <a:prstDash val="solid"/>
          </a:ln>
        </p:spPr>
      </p:sp>
      <p:pic>
        <p:nvPicPr>
          <p:cNvPr id="9" name="Darren Blumenfeld" descr="Darren Blumenf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5638800"/>
            <a:ext cx="508000" cy="508000"/>
          </a:xfrm>
          <a:prstGeom prst="ellipse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47800" y="56642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Darren Blumenfeld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1447800" y="59055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200" dirty="0"/>
          </a:p>
        </p:txBody>
      </p:sp>
      <p:pic>
        <p:nvPicPr>
          <p:cNvPr id="12" name="Matt Rice" descr="Matt R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0" y="5638800"/>
            <a:ext cx="508000" cy="508000"/>
          </a:xfrm>
          <a:prstGeom prst="ellipse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937000" y="5664200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 Rice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3937000" y="5905500"/>
            <a:ext cx="241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Deliverability Coach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2000"/>
            <a:ext cx="10160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Aligning on your deliverability goals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812800" y="1346200"/>
            <a:ext cx="571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Much more than warming up a list.</a:t>
            </a:r>
            <a:endParaRPr lang="en-US" sz="1800" dirty="0"/>
          </a:p>
        </p:txBody>
      </p:sp>
      <p:pic>
        <p:nvPicPr>
          <p:cNvPr id="4" name="Image 0" descr="/tmp/claude-0/-home-user-Final/02da8cb1-f079-5a23-9739-98d18226fc3c/scratchpad/pptx/art/alig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1000" y="1143000"/>
            <a:ext cx="6350000" cy="889000"/>
          </a:xfrm>
          <a:prstGeom prst="rect">
            <a:avLst/>
          </a:prstGeom>
        </p:spPr>
      </p:pic>
      <p:sp>
        <p:nvSpPr>
          <p:cNvPr id="5" name="Chevron"/>
          <p:cNvSpPr/>
          <p:nvPr/>
        </p:nvSpPr>
        <p:spPr>
          <a:xfrm>
            <a:off x="812800" y="1968500"/>
            <a:ext cx="3467100" cy="901700"/>
          </a:xfrm>
          <a:prstGeom prst="homePlate">
            <a:avLst/>
          </a:prstGeom>
          <a:solidFill>
            <a:srgbClr val="FFFFFF">
              <a:alpha val="60000"/>
            </a:srgbClr>
          </a:solidFill>
          <a:ln w="19050">
            <a:solidFill>
              <a:srgbClr val="0063FF"/>
            </a:solidFill>
            <a:prstDash val="solid"/>
          </a:ln>
        </p:spPr>
      </p:sp>
      <p:sp>
        <p:nvSpPr>
          <p:cNvPr id="6" name="Chevron"/>
          <p:cNvSpPr/>
          <p:nvPr/>
        </p:nvSpPr>
        <p:spPr>
          <a:xfrm>
            <a:off x="4368800" y="1968500"/>
            <a:ext cx="3467100" cy="901700"/>
          </a:xfrm>
          <a:prstGeom prst="chevron">
            <a:avLst/>
          </a:prstGeom>
          <a:solidFill>
            <a:srgbClr val="FFFFFF">
              <a:alpha val="60000"/>
            </a:srgbClr>
          </a:solidFill>
          <a:ln w="19050">
            <a:solidFill>
              <a:srgbClr val="0063FF"/>
            </a:solidFill>
            <a:prstDash val="solid"/>
          </a:ln>
        </p:spPr>
      </p:sp>
      <p:sp>
        <p:nvSpPr>
          <p:cNvPr id="7" name="Chevron"/>
          <p:cNvSpPr/>
          <p:nvPr/>
        </p:nvSpPr>
        <p:spPr>
          <a:xfrm>
            <a:off x="7912100" y="1968500"/>
            <a:ext cx="3467100" cy="901700"/>
          </a:xfrm>
          <a:prstGeom prst="chevron">
            <a:avLst/>
          </a:prstGeom>
          <a:solidFill>
            <a:srgbClr val="FFFFFF">
              <a:alpha val="60000"/>
            </a:srgbClr>
          </a:solidFill>
          <a:ln w="19050">
            <a:solidFill>
              <a:srgbClr val="0063FF"/>
            </a:solidFill>
            <a:prstDash val="solid"/>
          </a:ln>
        </p:spPr>
      </p:sp>
      <p:sp>
        <p:nvSpPr>
          <p:cNvPr id="8" name="Text 9"/>
          <p:cNvSpPr txBox="1"/>
          <p:nvPr/>
        </p:nvSpPr>
        <p:spPr>
          <a:xfrm>
            <a:off x="1117600" y="2260600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 · Origins</a:t>
            </a:r>
            <a:endParaRPr lang="en-US" sz="2000" dirty="0"/>
          </a:p>
        </p:txBody>
      </p:sp>
      <p:sp>
        <p:nvSpPr>
          <p:cNvPr id="9" name="Text 10"/>
          <p:cNvSpPr txBox="1"/>
          <p:nvPr/>
        </p:nvSpPr>
        <p:spPr>
          <a:xfrm>
            <a:off x="4953000" y="2260600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10" name="Text 11"/>
          <p:cNvSpPr txBox="1"/>
          <p:nvPr/>
        </p:nvSpPr>
        <p:spPr>
          <a:xfrm>
            <a:off x="8496300" y="2260600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11" name="Text 12"/>
          <p:cNvSpPr txBox="1"/>
          <p:nvPr/>
        </p:nvSpPr>
        <p:spPr>
          <a:xfrm>
            <a:off x="1117600" y="30988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Darren founded InboxAlly in 2019 after spending 10 years running an Email Service Provider (ESP).</a:t>
            </a:r>
            <a:endParaRPr lang="en-US" sz="1400" dirty="0"/>
          </a:p>
        </p:txBody>
      </p:sp>
      <p:sp>
        <p:nvSpPr>
          <p:cNvPr id="12" name="Text 13"/>
          <p:cNvSpPr txBox="1"/>
          <p:nvPr/>
        </p:nvSpPr>
        <p:spPr>
          <a:xfrm>
            <a:off x="4660900" y="30988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senders with clean lists were still consistently landing in spam.</a:t>
            </a:r>
            <a:endParaRPr lang="en-US" sz="1400" dirty="0"/>
          </a:p>
        </p:txBody>
      </p:sp>
      <p:sp>
        <p:nvSpPr>
          <p:cNvPr id="13" name="Text 14"/>
          <p:cNvSpPr txBox="1"/>
          <p:nvPr/>
        </p:nvSpPr>
        <p:spPr>
          <a:xfrm>
            <a:off x="8204200" y="3098800"/>
            <a:ext cx="304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Darren built InboxAlly to fix placement visibility, reputation repair, and the engagement signals mailbox providers use to decide who to trust.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2000"/>
            <a:ext cx="10160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platform &amp; customer-reported results</a:t>
            </a:r>
            <a:endParaRPr lang="en-US" sz="3600" dirty="0"/>
          </a:p>
        </p:txBody>
      </p:sp>
      <p:pic>
        <p:nvPicPr>
          <p:cNvPr id="3" name="Image 0" descr="Dartboard diagram of the five platform featu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0" y="1663700"/>
            <a:ext cx="2413000" cy="4064000"/>
          </a:xfrm>
          <a:prstGeom prst="rect">
            <a:avLst/>
          </a:prstGeom>
        </p:spPr>
      </p:pic>
      <p:sp>
        <p:nvSpPr>
          <p:cNvPr id="4" name="Badge 1"/>
          <p:cNvSpPr/>
          <p:nvPr/>
        </p:nvSpPr>
        <p:spPr>
          <a:xfrm>
            <a:off x="1447800" y="2000250"/>
            <a:ext cx="279400" cy="279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15"/>
          <p:cNvSpPr txBox="1"/>
          <p:nvPr/>
        </p:nvSpPr>
        <p:spPr>
          <a:xfrm>
            <a:off x="1447800" y="200025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Badge 2"/>
          <p:cNvSpPr/>
          <p:nvPr/>
        </p:nvSpPr>
        <p:spPr>
          <a:xfrm>
            <a:off x="2266950" y="2590800"/>
            <a:ext cx="279400" cy="279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16"/>
          <p:cNvSpPr txBox="1"/>
          <p:nvPr/>
        </p:nvSpPr>
        <p:spPr>
          <a:xfrm>
            <a:off x="2266950" y="25908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Badge 3"/>
          <p:cNvSpPr/>
          <p:nvPr/>
        </p:nvSpPr>
        <p:spPr>
          <a:xfrm>
            <a:off x="2578100" y="3556000"/>
            <a:ext cx="279400" cy="279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17"/>
          <p:cNvSpPr txBox="1"/>
          <p:nvPr/>
        </p:nvSpPr>
        <p:spPr>
          <a:xfrm>
            <a:off x="2578100" y="35560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Badge 4"/>
          <p:cNvSpPr/>
          <p:nvPr/>
        </p:nvSpPr>
        <p:spPr>
          <a:xfrm>
            <a:off x="2266950" y="4521200"/>
            <a:ext cx="279400" cy="279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18"/>
          <p:cNvSpPr txBox="1"/>
          <p:nvPr/>
        </p:nvSpPr>
        <p:spPr>
          <a:xfrm>
            <a:off x="2266950" y="452120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Badge 5"/>
          <p:cNvSpPr/>
          <p:nvPr/>
        </p:nvSpPr>
        <p:spPr>
          <a:xfrm>
            <a:off x="1447800" y="5111750"/>
            <a:ext cx="279400" cy="279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9"/>
          <p:cNvSpPr txBox="1"/>
          <p:nvPr/>
        </p:nvSpPr>
        <p:spPr>
          <a:xfrm>
            <a:off x="1447800" y="511175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20"/>
          <p:cNvSpPr txBox="1"/>
          <p:nvPr/>
        </p:nvSpPr>
        <p:spPr>
          <a:xfrm>
            <a:off x="3556000" y="16637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21"/>
          <p:cNvSpPr txBox="1"/>
          <p:nvPr/>
        </p:nvSpPr>
        <p:spPr>
          <a:xfrm>
            <a:off x="3886200" y="1663700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seed engagement</a:t>
            </a:r>
            <a:endParaRPr lang="en-US" sz="1500" dirty="0"/>
          </a:p>
        </p:txBody>
      </p:sp>
      <p:sp>
        <p:nvSpPr>
          <p:cNvPr id="16" name="Text 22"/>
          <p:cNvSpPr txBox="1"/>
          <p:nvPr/>
        </p:nvSpPr>
        <p:spPr>
          <a:xfrm>
            <a:off x="3886200" y="1930400"/>
            <a:ext cx="373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interactions in Gmail, Workspace, Microsoft consumer, M365, and Yahoo.</a:t>
            </a:r>
            <a:endParaRPr lang="en-US" sz="1200" dirty="0"/>
          </a:p>
        </p:txBody>
      </p:sp>
      <p:sp>
        <p:nvSpPr>
          <p:cNvPr id="17" name="Text 23"/>
          <p:cNvSpPr txBox="1"/>
          <p:nvPr/>
        </p:nvSpPr>
        <p:spPr>
          <a:xfrm>
            <a:off x="3556000" y="25019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24"/>
          <p:cNvSpPr txBox="1"/>
          <p:nvPr/>
        </p:nvSpPr>
        <p:spPr>
          <a:xfrm>
            <a:off x="3886200" y="2501900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integration</a:t>
            </a:r>
            <a:endParaRPr lang="en-US" sz="1500" dirty="0"/>
          </a:p>
        </p:txBody>
      </p:sp>
      <p:sp>
        <p:nvSpPr>
          <p:cNvPr id="19" name="Text 25"/>
          <p:cNvSpPr txBox="1"/>
          <p:nvPr/>
        </p:nvSpPr>
        <p:spPr>
          <a:xfrm>
            <a:off x="3886200" y="2768600"/>
            <a:ext cx="373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Google Postmaster Tools integration for authoritative health metrics.</a:t>
            </a:r>
            <a:endParaRPr lang="en-US" sz="1200" dirty="0"/>
          </a:p>
        </p:txBody>
      </p:sp>
      <p:sp>
        <p:nvSpPr>
          <p:cNvPr id="20" name="Text 26"/>
          <p:cNvSpPr txBox="1"/>
          <p:nvPr/>
        </p:nvSpPr>
        <p:spPr>
          <a:xfrm>
            <a:off x="3556000" y="33401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27"/>
          <p:cNvSpPr txBox="1"/>
          <p:nvPr/>
        </p:nvSpPr>
        <p:spPr>
          <a:xfrm>
            <a:off x="3886200" y="3340100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suite</a:t>
            </a:r>
            <a:endParaRPr lang="en-US" sz="1500" dirty="0"/>
          </a:p>
        </p:txBody>
      </p:sp>
      <p:sp>
        <p:nvSpPr>
          <p:cNvPr id="22" name="Text 28"/>
          <p:cNvSpPr txBox="1"/>
          <p:nvPr/>
        </p:nvSpPr>
        <p:spPr>
          <a:xfrm>
            <a:off x="3886200" y="3606800"/>
            <a:ext cx="373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verification, IA Assistant, IA Score, and automated AI digest.</a:t>
            </a:r>
            <a:endParaRPr lang="en-US" sz="1200" dirty="0"/>
          </a:p>
        </p:txBody>
      </p:sp>
      <p:sp>
        <p:nvSpPr>
          <p:cNvPr id="23" name="Text 29"/>
          <p:cNvSpPr txBox="1"/>
          <p:nvPr/>
        </p:nvSpPr>
        <p:spPr>
          <a:xfrm>
            <a:off x="3556000" y="41783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30"/>
          <p:cNvSpPr txBox="1"/>
          <p:nvPr/>
        </p:nvSpPr>
        <p:spPr>
          <a:xfrm>
            <a:off x="3886200" y="4178300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any ESP</a:t>
            </a:r>
            <a:endParaRPr lang="en-US" sz="1500" dirty="0"/>
          </a:p>
        </p:txBody>
      </p:sp>
      <p:sp>
        <p:nvSpPr>
          <p:cNvPr id="25" name="Text 31"/>
          <p:cNvSpPr txBox="1"/>
          <p:nvPr/>
        </p:nvSpPr>
        <p:spPr>
          <a:xfrm>
            <a:off x="3886200" y="4445000"/>
            <a:ext cx="373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 — no API keys, no credentials, and no DNS changes required.</a:t>
            </a:r>
            <a:endParaRPr lang="en-US" sz="1200" dirty="0"/>
          </a:p>
        </p:txBody>
      </p:sp>
      <p:sp>
        <p:nvSpPr>
          <p:cNvPr id="26" name="Text 32"/>
          <p:cNvSpPr txBox="1"/>
          <p:nvPr/>
        </p:nvSpPr>
        <p:spPr>
          <a:xfrm>
            <a:off x="3556000" y="50165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33"/>
          <p:cNvSpPr txBox="1"/>
          <p:nvPr/>
        </p:nvSpPr>
        <p:spPr>
          <a:xfrm>
            <a:off x="3886200" y="5016500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&amp; training</a:t>
            </a:r>
            <a:endParaRPr lang="en-US" sz="1500" dirty="0"/>
          </a:p>
        </p:txBody>
      </p:sp>
      <p:sp>
        <p:nvSpPr>
          <p:cNvPr id="28" name="Text 34"/>
          <p:cNvSpPr txBox="1"/>
          <p:nvPr/>
        </p:nvSpPr>
        <p:spPr>
          <a:xfrm>
            <a:off x="3886200" y="5283200"/>
            <a:ext cx="373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free tools and complete Platform Certification program.</a:t>
            </a:r>
            <a:endParaRPr lang="en-US" sz="1200" dirty="0"/>
          </a:p>
        </p:txBody>
      </p:sp>
      <p:sp>
        <p:nvSpPr>
          <p:cNvPr id="29" name="Results card"/>
          <p:cNvSpPr/>
          <p:nvPr/>
        </p:nvSpPr>
        <p:spPr>
          <a:xfrm>
            <a:off x="7975600" y="1663700"/>
            <a:ext cx="3403600" cy="4064000"/>
          </a:xfrm>
          <a:prstGeom prst="roundRect">
            <a:avLst>
              <a:gd name="adj" fmla="val 3731"/>
            </a:avLst>
          </a:prstGeom>
          <a:solidFill>
            <a:srgbClr val="DDEFFF"/>
          </a:solidFill>
          <a:ln w="12700">
            <a:solidFill>
              <a:srgbClr val="DDEFFF"/>
            </a:solidFill>
            <a:prstDash val="solid"/>
          </a:ln>
        </p:spPr>
      </p:sp>
      <p:sp>
        <p:nvSpPr>
          <p:cNvPr id="30" name="Text 35"/>
          <p:cNvSpPr txBox="1"/>
          <p:nvPr/>
        </p:nvSpPr>
        <p:spPr>
          <a:xfrm>
            <a:off x="8229600" y="1917700"/>
            <a:ext cx="289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customers report</a:t>
            </a:r>
            <a:endParaRPr lang="en-US" sz="1700" dirty="0"/>
          </a:p>
        </p:txBody>
      </p:sp>
      <p:sp>
        <p:nvSpPr>
          <p:cNvPr id="31" name="Text 36"/>
          <p:cNvSpPr txBox="1"/>
          <p:nvPr/>
        </p:nvSpPr>
        <p:spPr>
          <a:xfrm>
            <a:off x="8229600" y="2362200"/>
            <a:ext cx="289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“Emails went from 60% spam to 0% in about two months”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229600" y="2959100"/>
            <a:ext cx="2895600" cy="0"/>
          </a:xfrm>
          <a:prstGeom prst="line">
            <a:avLst/>
          </a:prstGeom>
          <a:noFill/>
          <a:ln w="19050">
            <a:solidFill>
              <a:srgbClr val="90BDFE"/>
            </a:solidFill>
            <a:prstDash val="solid"/>
          </a:ln>
        </p:spPr>
      </p:sp>
      <p:sp>
        <p:nvSpPr>
          <p:cNvPr id="33" name="Text 37"/>
          <p:cNvSpPr txBox="1"/>
          <p:nvPr/>
        </p:nvSpPr>
        <p:spPr>
          <a:xfrm>
            <a:off x="8229600" y="3060700"/>
            <a:ext cx="289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“Domain reputation from Bad to High in roughly six weeks”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229600" y="3657600"/>
            <a:ext cx="2895600" cy="0"/>
          </a:xfrm>
          <a:prstGeom prst="line">
            <a:avLst/>
          </a:prstGeom>
          <a:noFill/>
          <a:ln w="19050">
            <a:solidFill>
              <a:srgbClr val="90BDFE"/>
            </a:solidFill>
            <a:prstDash val="solid"/>
          </a:ln>
        </p:spPr>
      </p:sp>
      <p:sp>
        <p:nvSpPr>
          <p:cNvPr id="35" name="Text 38"/>
          <p:cNvSpPr txBox="1"/>
          <p:nvPr/>
        </p:nvSpPr>
        <p:spPr>
          <a:xfrm>
            <a:off x="8229600" y="3759200"/>
            <a:ext cx="289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“By end of month, 100% of emails to inbox, 50–96% daily to Primary”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29600" y="4356100"/>
            <a:ext cx="2895600" cy="0"/>
          </a:xfrm>
          <a:prstGeom prst="line">
            <a:avLst/>
          </a:prstGeom>
          <a:noFill/>
          <a:ln w="19050">
            <a:solidFill>
              <a:srgbClr val="90BDFE"/>
            </a:solidFill>
            <a:prstDash val="solid"/>
          </a:ln>
        </p:spPr>
      </p:sp>
      <p:sp>
        <p:nvSpPr>
          <p:cNvPr id="37" name="Text 39"/>
          <p:cNvSpPr txBox="1"/>
          <p:nvPr/>
        </p:nvSpPr>
        <p:spPr>
          <a:xfrm>
            <a:off x="8229600" y="4457700"/>
            <a:ext cx="289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“Open rates from ~30% to 70%+”</a:t>
            </a:r>
            <a:endParaRPr lang="en-US" sz="1300" dirty="0"/>
          </a:p>
        </p:txBody>
      </p:sp>
      <p:sp>
        <p:nvSpPr>
          <p:cNvPr id="38" name="Case studies"/>
          <p:cNvSpPr txBox="1"/>
          <p:nvPr/>
        </p:nvSpPr>
        <p:spPr>
          <a:xfrm>
            <a:off x="8229600" y="4927600"/>
            <a:ext cx="289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case studies: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Seido Knives, Surveylab, Mas Vashu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2000"/>
            <a:ext cx="10160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record &amp; industry recognition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812800" y="1663700"/>
            <a:ext cx="2508250" cy="19685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40"/>
          <p:cNvSpPr txBox="1"/>
          <p:nvPr/>
        </p:nvSpPr>
        <p:spPr>
          <a:xfrm>
            <a:off x="1016000" y="1866900"/>
            <a:ext cx="21018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operation</a:t>
            </a:r>
            <a:endParaRPr lang="en-US" sz="1500" dirty="0"/>
          </a:p>
        </p:txBody>
      </p:sp>
      <p:sp>
        <p:nvSpPr>
          <p:cNvPr id="5" name="Text 41"/>
          <p:cNvSpPr txBox="1"/>
          <p:nvPr/>
        </p:nvSpPr>
        <p:spPr>
          <a:xfrm>
            <a:off x="1016000" y="2171700"/>
            <a:ext cx="21018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Deliverability platform in continuous operation since 2019.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3498850" y="1663700"/>
            <a:ext cx="2508250" cy="19685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2"/>
          <p:cNvSpPr txBox="1"/>
          <p:nvPr/>
        </p:nvSpPr>
        <p:spPr>
          <a:xfrm>
            <a:off x="3702050" y="1866900"/>
            <a:ext cx="21018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adoption</a:t>
            </a:r>
            <a:endParaRPr lang="en-US" sz="1500" dirty="0"/>
          </a:p>
        </p:txBody>
      </p:sp>
      <p:sp>
        <p:nvSpPr>
          <p:cNvPr id="8" name="Text 43"/>
          <p:cNvSpPr txBox="1"/>
          <p:nvPr/>
        </p:nvSpPr>
        <p:spPr>
          <a:xfrm>
            <a:off x="3702050" y="2171700"/>
            <a:ext cx="21018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customers, from self-service senders to enterprise programs.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6184900" y="1663700"/>
            <a:ext cx="2508250" cy="19685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44"/>
          <p:cNvSpPr txBox="1"/>
          <p:nvPr/>
        </p:nvSpPr>
        <p:spPr>
          <a:xfrm>
            <a:off x="6388100" y="1866900"/>
            <a:ext cx="21018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1500" dirty="0"/>
          </a:p>
        </p:txBody>
      </p:sp>
      <p:sp>
        <p:nvSpPr>
          <p:cNvPr id="11" name="Text 45"/>
          <p:cNvSpPr txBox="1"/>
          <p:nvPr/>
        </p:nvSpPr>
        <p:spPr>
          <a:xfrm>
            <a:off x="6388100" y="2171700"/>
            <a:ext cx="21018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 of email messages processed across placement monitoring, list verification, and creative observation.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8870950" y="1663700"/>
            <a:ext cx="2508250" cy="19685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46"/>
          <p:cNvSpPr txBox="1"/>
          <p:nvPr/>
        </p:nvSpPr>
        <p:spPr>
          <a:xfrm>
            <a:off x="9074150" y="1866900"/>
            <a:ext cx="21018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trust</a:t>
            </a:r>
            <a:endParaRPr lang="en-US" sz="1500" dirty="0"/>
          </a:p>
        </p:txBody>
      </p:sp>
      <p:sp>
        <p:nvSpPr>
          <p:cNvPr id="14" name="Text 47"/>
          <p:cNvSpPr txBox="1"/>
          <p:nvPr/>
        </p:nvSpPr>
        <p:spPr>
          <a:xfrm>
            <a:off x="9074150" y="2171700"/>
            <a:ext cx="21018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Relied on by agencies, ESPs, and deliverability consultants, as well as brands.</a:t>
            </a:r>
            <a:endParaRPr lang="en-US" sz="1300" dirty="0"/>
          </a:p>
        </p:txBody>
      </p:sp>
      <p:sp>
        <p:nvSpPr>
          <p:cNvPr id="15" name="Text 48"/>
          <p:cNvSpPr txBox="1"/>
          <p:nvPr/>
        </p:nvSpPr>
        <p:spPr>
          <a:xfrm>
            <a:off x="812800" y="4318000"/>
            <a:ext cx="3251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SAMMY AWARDS</a:t>
            </a:r>
            <a:endParaRPr lang="en-US" sz="1200" dirty="0"/>
          </a:p>
        </p:txBody>
      </p:sp>
      <p:sp>
        <p:nvSpPr>
          <p:cNvPr id="16" name="Text 49"/>
          <p:cNvSpPr txBox="1"/>
          <p:nvPr/>
        </p:nvSpPr>
        <p:spPr>
          <a:xfrm>
            <a:off x="4470400" y="4318000"/>
            <a:ext cx="3251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RATINGS</a:t>
            </a:r>
            <a:endParaRPr lang="en-US" sz="1200" dirty="0"/>
          </a:p>
        </p:txBody>
      </p:sp>
      <p:sp>
        <p:nvSpPr>
          <p:cNvPr id="17" name="Text 50"/>
          <p:cNvSpPr txBox="1"/>
          <p:nvPr/>
        </p:nvSpPr>
        <p:spPr>
          <a:xfrm>
            <a:off x="8128000" y="4318000"/>
            <a:ext cx="3251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MAY HAVE SEEN US AT</a:t>
            </a:r>
            <a:endParaRPr lang="en-US" sz="1200" dirty="0"/>
          </a:p>
        </p:txBody>
      </p:sp>
      <p:sp>
        <p:nvSpPr>
          <p:cNvPr id="18" name="Text 51"/>
          <p:cNvSpPr txBox="1"/>
          <p:nvPr/>
        </p:nvSpPr>
        <p:spPr>
          <a:xfrm>
            <a:off x="812800" y="4597400"/>
            <a:ext cx="3251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Catalyst – Email: Winner 2025 and 2026</a:t>
            </a:r>
            <a:endParaRPr lang="en-US" sz="1500" dirty="0"/>
          </a:p>
        </p:txBody>
      </p:sp>
      <p:sp>
        <p:nvSpPr>
          <p:cNvPr id="19" name="Text 52"/>
          <p:cNvSpPr txBox="1"/>
          <p:nvPr/>
        </p:nvSpPr>
        <p:spPr>
          <a:xfrm>
            <a:off x="4470400" y="4546600"/>
            <a:ext cx="107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</a:t>
            </a:r>
            <a:endParaRPr lang="en-US" sz="4400" dirty="0"/>
          </a:p>
        </p:txBody>
      </p:sp>
      <p:sp>
        <p:nvSpPr>
          <p:cNvPr id="20" name="Text 53"/>
          <p:cNvSpPr txBox="1"/>
          <p:nvPr/>
        </p:nvSpPr>
        <p:spPr>
          <a:xfrm>
            <a:off x="5588000" y="4864100"/>
            <a:ext cx="95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Trustpilot</a:t>
            </a:r>
            <a:endParaRPr lang="en-US" sz="1400" dirty="0"/>
          </a:p>
        </p:txBody>
      </p:sp>
      <p:sp>
        <p:nvSpPr>
          <p:cNvPr id="21" name="Text 54"/>
          <p:cNvSpPr txBox="1"/>
          <p:nvPr/>
        </p:nvSpPr>
        <p:spPr>
          <a:xfrm>
            <a:off x="6604000" y="4546600"/>
            <a:ext cx="107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</a:t>
            </a:r>
            <a:endParaRPr lang="en-US" sz="4400" dirty="0"/>
          </a:p>
        </p:txBody>
      </p:sp>
      <p:sp>
        <p:nvSpPr>
          <p:cNvPr id="22" name="Text 55"/>
          <p:cNvSpPr txBox="1"/>
          <p:nvPr/>
        </p:nvSpPr>
        <p:spPr>
          <a:xfrm>
            <a:off x="7721600" y="48641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400" dirty="0"/>
          </a:p>
        </p:txBody>
      </p:sp>
      <p:sp>
        <p:nvSpPr>
          <p:cNvPr id="23" name="Text 56"/>
          <p:cNvSpPr txBox="1"/>
          <p:nvPr/>
        </p:nvSpPr>
        <p:spPr>
          <a:xfrm>
            <a:off x="4470400" y="5245100"/>
            <a:ext cx="3251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High Performer</a:t>
            </a:r>
            <a:endParaRPr lang="en-US" sz="1200" dirty="0"/>
          </a:p>
        </p:txBody>
      </p:sp>
      <p:sp>
        <p:nvSpPr>
          <p:cNvPr id="24" name="Text 57"/>
          <p:cNvSpPr txBox="1"/>
          <p:nvPr/>
        </p:nvSpPr>
        <p:spPr>
          <a:xfrm>
            <a:off x="8128000" y="4597400"/>
            <a:ext cx="32512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MailCon, Email Innovator Summit, Affiliate Summit, Traffic &amp; Conversion Summit, MediaPost, Email Marketing Daily</a:t>
            </a:r>
            <a:endParaRPr lang="en-US" sz="1400" dirty="0"/>
          </a:p>
        </p:txBody>
      </p:sp>
      <p:pic>
        <p:nvPicPr>
          <p:cNvPr id="25" name="Image 0" descr="/tmp/claude-0/-home-user-Final/02da8cb1-f079-5a23-9739-98d18226fc3c/scratchpad/pptx/art/track-rec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5524500"/>
            <a:ext cx="9652000" cy="88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12800" y="1905000"/>
            <a:ext cx="508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812800" y="2159000"/>
            <a:ext cx="952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6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812800" y="3086100"/>
            <a:ext cx="825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DE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line that sets up what this section covers.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BFD8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12800" y="1905000"/>
            <a:ext cx="508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812800" y="2159000"/>
            <a:ext cx="952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6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812800" y="3086100"/>
            <a:ext cx="825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line that sets up what this section covers.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812800" y="762000"/>
            <a:ext cx="4953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812800" y="1346200"/>
            <a:ext cx="495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 supporting line.</a:t>
            </a:r>
            <a:endParaRPr lang="en-US" sz="1800" dirty="0"/>
          </a:p>
        </p:txBody>
      </p:sp>
      <p:sp>
        <p:nvSpPr>
          <p:cNvPr id="4" name="Text 58"/>
          <p:cNvSpPr txBox="1"/>
          <p:nvPr/>
        </p:nvSpPr>
        <p:spPr>
          <a:xfrm>
            <a:off x="812800" y="1968500"/>
            <a:ext cx="495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the image or screenshot shows and why it matters. Two or three sentences is plenty.</a:t>
            </a:r>
            <a:endParaRPr lang="en-US" sz="1500" dirty="0"/>
          </a:p>
        </p:txBody>
      </p:sp>
      <p:sp>
        <p:nvSpPr>
          <p:cNvPr id="5" name="Text 59"/>
          <p:cNvSpPr txBox="1"/>
          <p:nvPr/>
        </p:nvSpPr>
        <p:spPr>
          <a:xfrm>
            <a:off x="812800" y="3162300"/>
            <a:ext cx="20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60"/>
          <p:cNvSpPr txBox="1"/>
          <p:nvPr/>
        </p:nvSpPr>
        <p:spPr>
          <a:xfrm>
            <a:off x="1143000" y="3162300"/>
            <a:ext cx="462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point to call out</a:t>
            </a:r>
            <a:endParaRPr lang="en-US" sz="1400" dirty="0"/>
          </a:p>
        </p:txBody>
      </p:sp>
      <p:sp>
        <p:nvSpPr>
          <p:cNvPr id="7" name="Text 61"/>
          <p:cNvSpPr txBox="1"/>
          <p:nvPr/>
        </p:nvSpPr>
        <p:spPr>
          <a:xfrm>
            <a:off x="812800" y="3606800"/>
            <a:ext cx="20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2"/>
          <p:cNvSpPr txBox="1"/>
          <p:nvPr/>
        </p:nvSpPr>
        <p:spPr>
          <a:xfrm>
            <a:off x="1143000" y="3606800"/>
            <a:ext cx="462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point to call out</a:t>
            </a:r>
            <a:endParaRPr lang="en-US" sz="1400" dirty="0"/>
          </a:p>
        </p:txBody>
      </p:sp>
      <p:sp>
        <p:nvSpPr>
          <p:cNvPr id="9" name="Text 63"/>
          <p:cNvSpPr txBox="1"/>
          <p:nvPr/>
        </p:nvSpPr>
        <p:spPr>
          <a:xfrm>
            <a:off x="812800" y="4051300"/>
            <a:ext cx="20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64"/>
          <p:cNvSpPr txBox="1"/>
          <p:nvPr/>
        </p:nvSpPr>
        <p:spPr>
          <a:xfrm>
            <a:off x="1143000" y="4051300"/>
            <a:ext cx="462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point to call out</a:t>
            </a:r>
            <a:endParaRPr lang="en-US" sz="1400" dirty="0"/>
          </a:p>
        </p:txBody>
      </p:sp>
      <p:sp>
        <p:nvSpPr>
          <p:cNvPr id="11" name="Text 1"/>
          <p:cNvSpPr/>
          <p:nvPr>
            <p:ph idx="101" hasCustomPrompt="1"/>
          </p:nvPr>
        </p:nvSpPr>
        <p:spPr>
          <a:xfrm>
            <a:off x="6350000" y="0"/>
            <a:ext cx="5842000" cy="685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4958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2000"/>
            <a:ext cx="10160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812800" y="1346200"/>
            <a:ext cx="889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 supporting line.</a:t>
            </a:r>
            <a:endParaRPr lang="en-US" sz="1800" dirty="0"/>
          </a:p>
        </p:txBody>
      </p:sp>
      <p:sp>
        <p:nvSpPr>
          <p:cNvPr id="4" name="Text 65"/>
          <p:cNvSpPr txBox="1"/>
          <p:nvPr/>
        </p:nvSpPr>
        <p:spPr>
          <a:xfrm>
            <a:off x="812800" y="1968500"/>
            <a:ext cx="53213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layout when a slide needs a proper paragraph. Lead with the main point, then add the context or detail that supports it. Keep paragraphs to four or five lines so they still read well on a shared screen.</a:t>
            </a:r>
            <a:endParaRPr lang="en-US" sz="1500" dirty="0"/>
          </a:p>
        </p:txBody>
      </p:sp>
      <p:sp>
        <p:nvSpPr>
          <p:cNvPr id="5" name="Text 66"/>
          <p:cNvSpPr txBox="1"/>
          <p:nvPr/>
        </p:nvSpPr>
        <p:spPr>
          <a:xfrm>
            <a:off x="812800" y="3810000"/>
            <a:ext cx="53213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short paragraph can carry an example, a caveat or what happens next.</a:t>
            </a:r>
            <a:endParaRPr lang="en-US" sz="1500" dirty="0"/>
          </a:p>
        </p:txBody>
      </p:sp>
      <p:sp>
        <p:nvSpPr>
          <p:cNvPr id="6" name="Key points card"/>
          <p:cNvSpPr/>
          <p:nvPr/>
        </p:nvSpPr>
        <p:spPr>
          <a:xfrm>
            <a:off x="6540500" y="1968500"/>
            <a:ext cx="4838700" cy="317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67"/>
          <p:cNvSpPr txBox="1"/>
          <p:nvPr/>
        </p:nvSpPr>
        <p:spPr>
          <a:xfrm>
            <a:off x="6819900" y="2247900"/>
            <a:ext cx="4279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8" name="Text 68"/>
          <p:cNvSpPr txBox="1"/>
          <p:nvPr/>
        </p:nvSpPr>
        <p:spPr>
          <a:xfrm>
            <a:off x="6819900" y="2616200"/>
            <a:ext cx="20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9"/>
          <p:cNvSpPr txBox="1"/>
          <p:nvPr/>
        </p:nvSpPr>
        <p:spPr>
          <a:xfrm>
            <a:off x="7150100" y="2616200"/>
            <a:ext cx="394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supporting point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9900" y="3035300"/>
            <a:ext cx="4279900" cy="0"/>
          </a:xfrm>
          <a:prstGeom prst="line">
            <a:avLst/>
          </a:prstGeom>
          <a:noFill/>
          <a:ln w="19050">
            <a:solidFill>
              <a:srgbClr val="DDEFFF"/>
            </a:solidFill>
            <a:prstDash val="solid"/>
          </a:ln>
        </p:spPr>
      </p:sp>
      <p:sp>
        <p:nvSpPr>
          <p:cNvPr id="11" name="Text 70"/>
          <p:cNvSpPr txBox="1"/>
          <p:nvPr/>
        </p:nvSpPr>
        <p:spPr>
          <a:xfrm>
            <a:off x="6819900" y="3200400"/>
            <a:ext cx="20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71"/>
          <p:cNvSpPr txBox="1"/>
          <p:nvPr/>
        </p:nvSpPr>
        <p:spPr>
          <a:xfrm>
            <a:off x="7150100" y="3200400"/>
            <a:ext cx="394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supporting point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19900" y="3619500"/>
            <a:ext cx="4279900" cy="0"/>
          </a:xfrm>
          <a:prstGeom prst="line">
            <a:avLst/>
          </a:prstGeom>
          <a:noFill/>
          <a:ln w="19050">
            <a:solidFill>
              <a:srgbClr val="DDEFFF"/>
            </a:solidFill>
            <a:prstDash val="solid"/>
          </a:ln>
        </p:spPr>
      </p:sp>
      <p:sp>
        <p:nvSpPr>
          <p:cNvPr id="14" name="Text 72"/>
          <p:cNvSpPr txBox="1"/>
          <p:nvPr/>
        </p:nvSpPr>
        <p:spPr>
          <a:xfrm>
            <a:off x="6819900" y="3784600"/>
            <a:ext cx="20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73"/>
          <p:cNvSpPr txBox="1"/>
          <p:nvPr/>
        </p:nvSpPr>
        <p:spPr>
          <a:xfrm>
            <a:off x="7150100" y="3784600"/>
            <a:ext cx="394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supporting point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19900" y="4203700"/>
            <a:ext cx="4279900" cy="0"/>
          </a:xfrm>
          <a:prstGeom prst="line">
            <a:avLst/>
          </a:prstGeom>
          <a:noFill/>
          <a:ln w="19050">
            <a:solidFill>
              <a:srgbClr val="DDEFFF"/>
            </a:solidFill>
            <a:prstDash val="solid"/>
          </a:ln>
        </p:spPr>
      </p:sp>
      <p:sp>
        <p:nvSpPr>
          <p:cNvPr id="17" name="Text 74"/>
          <p:cNvSpPr txBox="1"/>
          <p:nvPr/>
        </p:nvSpPr>
        <p:spPr>
          <a:xfrm>
            <a:off x="6819900" y="4368800"/>
            <a:ext cx="20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75"/>
          <p:cNvSpPr txBox="1"/>
          <p:nvPr/>
        </p:nvSpPr>
        <p:spPr>
          <a:xfrm>
            <a:off x="7150100" y="4368800"/>
            <a:ext cx="394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supporting point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Final/02da8cb1-f079-5a23-9739-98d18226fc3c/scratchpad/pptx/art/stat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0" y="5905500"/>
            <a:ext cx="9652000" cy="889000"/>
          </a:xfrm>
          <a:prstGeom prst="rect">
            <a:avLst/>
          </a:prstGeom>
        </p:spPr>
      </p:pic>
      <p:sp>
        <p:nvSpPr>
          <p:cNvPr id="3" name="Text 76"/>
          <p:cNvSpPr txBox="1"/>
          <p:nvPr/>
        </p:nvSpPr>
        <p:spPr>
          <a:xfrm>
            <a:off x="812800" y="1460500"/>
            <a:ext cx="127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4" name="Statement"/>
          <p:cNvSpPr txBox="1"/>
          <p:nvPr/>
        </p:nvSpPr>
        <p:spPr>
          <a:xfrm>
            <a:off x="812800" y="2540000"/>
            <a:ext cx="1028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line the audience should remember.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3937000"/>
            <a:ext cx="508000" cy="25400"/>
          </a:xfrm>
          <a:prstGeom prst="rect">
            <a:avLst/>
          </a:prstGeom>
          <a:solidFill>
            <a:srgbClr val="FF3334"/>
          </a:solidFill>
          <a:ln w="12700">
            <a:solidFill>
              <a:srgbClr val="FF3334"/>
            </a:solidFill>
            <a:prstDash val="solid"/>
          </a:ln>
        </p:spPr>
      </p:sp>
      <p:sp>
        <p:nvSpPr>
          <p:cNvPr id="6" name="Attribution"/>
          <p:cNvSpPr txBox="1"/>
          <p:nvPr/>
        </p:nvSpPr>
        <p:spPr>
          <a:xfrm>
            <a:off x="812800" y="41402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Job Title, Company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2000"/>
            <a:ext cx="10160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812800" y="1346200"/>
            <a:ext cx="889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short supporting line.</a:t>
            </a:r>
            <a:endParaRPr lang="en-US" sz="1800" dirty="0"/>
          </a:p>
        </p:txBody>
      </p:sp>
      <p:sp>
        <p:nvSpPr>
          <p:cNvPr id="4" name="Stat 1"/>
          <p:cNvSpPr txBox="1"/>
          <p:nvPr/>
        </p:nvSpPr>
        <p:spPr>
          <a:xfrm>
            <a:off x="812800" y="2540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00%</a:t>
            </a:r>
            <a:endParaRPr lang="en-US" sz="7000" dirty="0"/>
          </a:p>
        </p:txBody>
      </p:sp>
      <p:sp>
        <p:nvSpPr>
          <p:cNvPr id="5" name="Text 77"/>
          <p:cNvSpPr txBox="1"/>
          <p:nvPr/>
        </p:nvSpPr>
        <p:spPr>
          <a:xfrm>
            <a:off x="812800" y="36576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label</a:t>
            </a:r>
            <a:endParaRPr lang="en-US" sz="1500" dirty="0"/>
          </a:p>
        </p:txBody>
      </p:sp>
      <p:sp>
        <p:nvSpPr>
          <p:cNvPr id="6" name="Text 78"/>
          <p:cNvSpPr txBox="1"/>
          <p:nvPr/>
        </p:nvSpPr>
        <p:spPr>
          <a:xfrm>
            <a:off x="812800" y="3962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4400" y="2540000"/>
            <a:ext cx="0" cy="1905000"/>
          </a:xfrm>
          <a:prstGeom prst="line">
            <a:avLst/>
          </a:prstGeom>
          <a:noFill/>
          <a:ln w="19050">
            <a:solidFill>
              <a:srgbClr val="90BDFE"/>
            </a:solidFill>
            <a:prstDash val="solid"/>
          </a:ln>
        </p:spPr>
      </p:sp>
      <p:sp>
        <p:nvSpPr>
          <p:cNvPr id="8" name="Stat 2"/>
          <p:cNvSpPr txBox="1"/>
          <p:nvPr/>
        </p:nvSpPr>
        <p:spPr>
          <a:xfrm>
            <a:off x="3708400" y="2540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</a:t>
            </a:r>
            <a:endParaRPr lang="en-US" sz="7000" dirty="0"/>
          </a:p>
        </p:txBody>
      </p:sp>
      <p:sp>
        <p:nvSpPr>
          <p:cNvPr id="9" name="Text 79"/>
          <p:cNvSpPr txBox="1"/>
          <p:nvPr/>
        </p:nvSpPr>
        <p:spPr>
          <a:xfrm>
            <a:off x="3708400" y="36576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label</a:t>
            </a:r>
            <a:endParaRPr lang="en-US" sz="1500" dirty="0"/>
          </a:p>
        </p:txBody>
      </p:sp>
      <p:sp>
        <p:nvSpPr>
          <p:cNvPr id="10" name="Text 80"/>
          <p:cNvSpPr txBox="1"/>
          <p:nvPr/>
        </p:nvSpPr>
        <p:spPr>
          <a:xfrm>
            <a:off x="3708400" y="3962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0" y="2540000"/>
            <a:ext cx="0" cy="1905000"/>
          </a:xfrm>
          <a:prstGeom prst="line">
            <a:avLst/>
          </a:prstGeom>
          <a:noFill/>
          <a:ln w="19050">
            <a:solidFill>
              <a:srgbClr val="90BDFE"/>
            </a:solidFill>
            <a:prstDash val="solid"/>
          </a:ln>
        </p:spPr>
      </p:sp>
      <p:sp>
        <p:nvSpPr>
          <p:cNvPr id="12" name="Stat 3"/>
          <p:cNvSpPr txBox="1"/>
          <p:nvPr/>
        </p:nvSpPr>
        <p:spPr>
          <a:xfrm>
            <a:off x="6350000" y="2540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00x</a:t>
            </a:r>
            <a:endParaRPr lang="en-US" sz="7000" dirty="0"/>
          </a:p>
        </p:txBody>
      </p:sp>
      <p:sp>
        <p:nvSpPr>
          <p:cNvPr id="13" name="Text 81"/>
          <p:cNvSpPr txBox="1"/>
          <p:nvPr/>
        </p:nvSpPr>
        <p:spPr>
          <a:xfrm>
            <a:off x="6350000" y="36576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label</a:t>
            </a:r>
            <a:endParaRPr lang="en-US" sz="1500" dirty="0"/>
          </a:p>
        </p:txBody>
      </p:sp>
      <p:sp>
        <p:nvSpPr>
          <p:cNvPr id="14" name="Text 82"/>
          <p:cNvSpPr txBox="1"/>
          <p:nvPr/>
        </p:nvSpPr>
        <p:spPr>
          <a:xfrm>
            <a:off x="6350000" y="3962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37600" y="2540000"/>
            <a:ext cx="0" cy="1905000"/>
          </a:xfrm>
          <a:prstGeom prst="line">
            <a:avLst/>
          </a:prstGeom>
          <a:noFill/>
          <a:ln w="19050">
            <a:solidFill>
              <a:srgbClr val="90BDFE"/>
            </a:solidFill>
            <a:prstDash val="solid"/>
          </a:ln>
        </p:spPr>
      </p:sp>
      <p:sp>
        <p:nvSpPr>
          <p:cNvPr id="16" name="Stat 4"/>
          <p:cNvSpPr txBox="1"/>
          <p:nvPr/>
        </p:nvSpPr>
        <p:spPr>
          <a:xfrm>
            <a:off x="8991600" y="2540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000</a:t>
            </a:r>
            <a:endParaRPr lang="en-US" sz="7000" dirty="0"/>
          </a:p>
        </p:txBody>
      </p:sp>
      <p:sp>
        <p:nvSpPr>
          <p:cNvPr id="17" name="Text 83"/>
          <p:cNvSpPr txBox="1"/>
          <p:nvPr/>
        </p:nvSpPr>
        <p:spPr>
          <a:xfrm>
            <a:off x="8991600" y="36576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label</a:t>
            </a:r>
            <a:endParaRPr lang="en-US" sz="1500" dirty="0"/>
          </a:p>
        </p:txBody>
      </p:sp>
      <p:sp>
        <p:nvSpPr>
          <p:cNvPr id="18" name="Text 84"/>
          <p:cNvSpPr txBox="1"/>
          <p:nvPr/>
        </p:nvSpPr>
        <p:spPr>
          <a:xfrm>
            <a:off x="8991600" y="3962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</a:t>
            </a:r>
            <a:endParaRPr lang="en-US" sz="1200" dirty="0"/>
          </a:p>
        </p:txBody>
      </p:sp>
      <p:sp>
        <p:nvSpPr>
          <p:cNvPr id="19" name="Text 85"/>
          <p:cNvSpPr txBox="1"/>
          <p:nvPr/>
        </p:nvSpPr>
        <p:spPr>
          <a:xfrm>
            <a:off x="812800" y="5715000"/>
            <a:ext cx="889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add where these figures come from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boxAl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812800"/>
            <a:ext cx="2286000" cy="476250"/>
          </a:xfrm>
          <a:prstGeom prst="rect">
            <a:avLst/>
          </a:prstGeom>
        </p:spPr>
      </p:pic>
      <p:sp>
        <p:nvSpPr>
          <p:cNvPr id="3" name="Text 86"/>
          <p:cNvSpPr txBox="1"/>
          <p:nvPr/>
        </p:nvSpPr>
        <p:spPr>
          <a:xfrm>
            <a:off x="812800" y="1841500"/>
            <a:ext cx="952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4" name="Text 87"/>
          <p:cNvSpPr txBox="1"/>
          <p:nvPr/>
        </p:nvSpPr>
        <p:spPr>
          <a:xfrm>
            <a:off x="812800" y="3175000"/>
            <a:ext cx="825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DDE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 it through.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2000"/>
            <a:ext cx="10160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812800" y="1346200"/>
            <a:ext cx="889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Here's what happens after today.</a:t>
            </a:r>
            <a:endParaRPr lang="en-US" sz="1800" dirty="0"/>
          </a:p>
        </p:txBody>
      </p:sp>
      <p:sp>
        <p:nvSpPr>
          <p:cNvPr id="4" name="Chevron"/>
          <p:cNvSpPr/>
          <p:nvPr/>
        </p:nvSpPr>
        <p:spPr>
          <a:xfrm>
            <a:off x="812800" y="1968500"/>
            <a:ext cx="5715000" cy="901700"/>
          </a:xfrm>
          <a:prstGeom prst="homePlate">
            <a:avLst/>
          </a:prstGeom>
          <a:solidFill>
            <a:srgbClr val="FFFFFF">
              <a:alpha val="70000"/>
            </a:srgbClr>
          </a:solidFill>
          <a:ln w="19050">
            <a:solidFill>
              <a:srgbClr val="0063FF"/>
            </a:solidFill>
            <a:prstDash val="solid"/>
          </a:ln>
        </p:spPr>
      </p:sp>
      <p:sp>
        <p:nvSpPr>
          <p:cNvPr id="5" name="Text 88"/>
          <p:cNvSpPr txBox="1"/>
          <p:nvPr/>
        </p:nvSpPr>
        <p:spPr>
          <a:xfrm>
            <a:off x="1066800" y="1968500"/>
            <a:ext cx="38100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89"/>
          <p:cNvSpPr txBox="1"/>
          <p:nvPr/>
        </p:nvSpPr>
        <p:spPr>
          <a:xfrm>
            <a:off x="1625600" y="2146300"/>
            <a:ext cx="431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</a:t>
            </a:r>
            <a:endParaRPr lang="en-US" sz="1800" dirty="0"/>
          </a:p>
        </p:txBody>
      </p:sp>
      <p:sp>
        <p:nvSpPr>
          <p:cNvPr id="7" name="Text 90"/>
          <p:cNvSpPr txBox="1"/>
          <p:nvPr/>
        </p:nvSpPr>
        <p:spPr>
          <a:xfrm>
            <a:off x="1625600" y="2476500"/>
            <a:ext cx="431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and timing</a:t>
            </a:r>
            <a:endParaRPr lang="en-US" sz="1200" dirty="0"/>
          </a:p>
        </p:txBody>
      </p:sp>
      <p:sp>
        <p:nvSpPr>
          <p:cNvPr id="8" name="Chevron"/>
          <p:cNvSpPr/>
          <p:nvPr/>
        </p:nvSpPr>
        <p:spPr>
          <a:xfrm>
            <a:off x="812800" y="2959100"/>
            <a:ext cx="5715000" cy="901700"/>
          </a:xfrm>
          <a:prstGeom prst="homePlate">
            <a:avLst/>
          </a:prstGeom>
          <a:solidFill>
            <a:srgbClr val="FFFFFF">
              <a:alpha val="70000"/>
            </a:srgbClr>
          </a:solidFill>
          <a:ln w="19050">
            <a:solidFill>
              <a:srgbClr val="0063FF"/>
            </a:solidFill>
            <a:prstDash val="solid"/>
          </a:ln>
        </p:spPr>
      </p:sp>
      <p:sp>
        <p:nvSpPr>
          <p:cNvPr id="9" name="Text 91"/>
          <p:cNvSpPr txBox="1"/>
          <p:nvPr/>
        </p:nvSpPr>
        <p:spPr>
          <a:xfrm>
            <a:off x="1066800" y="2959100"/>
            <a:ext cx="38100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92"/>
          <p:cNvSpPr txBox="1"/>
          <p:nvPr/>
        </p:nvSpPr>
        <p:spPr>
          <a:xfrm>
            <a:off x="1625600" y="3136900"/>
            <a:ext cx="431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</a:t>
            </a:r>
            <a:endParaRPr lang="en-US" sz="1800" dirty="0"/>
          </a:p>
        </p:txBody>
      </p:sp>
      <p:sp>
        <p:nvSpPr>
          <p:cNvPr id="11" name="Text 93"/>
          <p:cNvSpPr txBox="1"/>
          <p:nvPr/>
        </p:nvSpPr>
        <p:spPr>
          <a:xfrm>
            <a:off x="1625600" y="3467100"/>
            <a:ext cx="431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and timing</a:t>
            </a:r>
            <a:endParaRPr lang="en-US" sz="1200" dirty="0"/>
          </a:p>
        </p:txBody>
      </p:sp>
      <p:sp>
        <p:nvSpPr>
          <p:cNvPr id="12" name="Chevron"/>
          <p:cNvSpPr/>
          <p:nvPr/>
        </p:nvSpPr>
        <p:spPr>
          <a:xfrm>
            <a:off x="812800" y="3949700"/>
            <a:ext cx="5715000" cy="901700"/>
          </a:xfrm>
          <a:prstGeom prst="homePlate">
            <a:avLst/>
          </a:prstGeom>
          <a:solidFill>
            <a:srgbClr val="FFFFFF">
              <a:alpha val="70000"/>
            </a:srgbClr>
          </a:solidFill>
          <a:ln w="19050">
            <a:solidFill>
              <a:srgbClr val="0063FF"/>
            </a:solidFill>
            <a:prstDash val="solid"/>
          </a:ln>
        </p:spPr>
      </p:sp>
      <p:sp>
        <p:nvSpPr>
          <p:cNvPr id="13" name="Text 94"/>
          <p:cNvSpPr txBox="1"/>
          <p:nvPr/>
        </p:nvSpPr>
        <p:spPr>
          <a:xfrm>
            <a:off x="1066800" y="3949700"/>
            <a:ext cx="38100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00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95"/>
          <p:cNvSpPr txBox="1"/>
          <p:nvPr/>
        </p:nvSpPr>
        <p:spPr>
          <a:xfrm>
            <a:off x="1625600" y="4127500"/>
            <a:ext cx="431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</a:t>
            </a:r>
            <a:endParaRPr lang="en-US" sz="1800" dirty="0"/>
          </a:p>
        </p:txBody>
      </p:sp>
      <p:sp>
        <p:nvSpPr>
          <p:cNvPr id="15" name="Text 96"/>
          <p:cNvSpPr txBox="1"/>
          <p:nvPr/>
        </p:nvSpPr>
        <p:spPr>
          <a:xfrm>
            <a:off x="1625600" y="4457700"/>
            <a:ext cx="431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and timing</a:t>
            </a:r>
            <a:endParaRPr lang="en-US" sz="1200" dirty="0"/>
          </a:p>
        </p:txBody>
      </p:sp>
      <p:sp>
        <p:nvSpPr>
          <p:cNvPr id="16" name="Contact card"/>
          <p:cNvSpPr/>
          <p:nvPr/>
        </p:nvSpPr>
        <p:spPr>
          <a:xfrm>
            <a:off x="7112000" y="1968500"/>
            <a:ext cx="4267200" cy="25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97"/>
          <p:cNvSpPr txBox="1"/>
          <p:nvPr/>
        </p:nvSpPr>
        <p:spPr>
          <a:xfrm>
            <a:off x="7391400" y="2247900"/>
            <a:ext cx="3708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</a:t>
            </a:r>
            <a:endParaRPr lang="en-US" sz="1200" dirty="0"/>
          </a:p>
        </p:txBody>
      </p:sp>
      <p:pic>
        <p:nvPicPr>
          <p:cNvPr id="18" name="Darren Blumenfeld" descr="Darren Blumenf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400" y="2628900"/>
            <a:ext cx="609600" cy="609600"/>
          </a:xfrm>
          <a:prstGeom prst="ellipse">
            <a:avLst/>
          </a:prstGeom>
        </p:spPr>
      </p:pic>
      <p:sp>
        <p:nvSpPr>
          <p:cNvPr id="19" name="Text 98"/>
          <p:cNvSpPr txBox="1"/>
          <p:nvPr/>
        </p:nvSpPr>
        <p:spPr>
          <a:xfrm>
            <a:off x="8153400" y="2616200"/>
            <a:ext cx="294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Darren Blumenfeld</a:t>
            </a:r>
            <a:endParaRPr lang="en-US" sz="1500" dirty="0"/>
          </a:p>
        </p:txBody>
      </p:sp>
      <p:sp>
        <p:nvSpPr>
          <p:cNvPr id="20" name="Text 99"/>
          <p:cNvSpPr txBox="1"/>
          <p:nvPr/>
        </p:nvSpPr>
        <p:spPr>
          <a:xfrm>
            <a:off x="8153400" y="2870200"/>
            <a:ext cx="294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21" name="Text 100"/>
          <p:cNvSpPr txBox="1"/>
          <p:nvPr/>
        </p:nvSpPr>
        <p:spPr>
          <a:xfrm>
            <a:off x="8153400" y="3073400"/>
            <a:ext cx="294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[email address]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91400" y="3416300"/>
            <a:ext cx="3708400" cy="0"/>
          </a:xfrm>
          <a:prstGeom prst="line">
            <a:avLst/>
          </a:prstGeom>
          <a:noFill/>
          <a:ln w="19050">
            <a:solidFill>
              <a:srgbClr val="DDEFFF"/>
            </a:solidFill>
            <a:prstDash val="solid"/>
          </a:ln>
        </p:spPr>
      </p:sp>
      <p:pic>
        <p:nvPicPr>
          <p:cNvPr id="23" name="Matt Rice" descr="Matt Ri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3581400"/>
            <a:ext cx="609600" cy="609600"/>
          </a:xfrm>
          <a:prstGeom prst="ellipse">
            <a:avLst/>
          </a:prstGeom>
        </p:spPr>
      </p:pic>
      <p:sp>
        <p:nvSpPr>
          <p:cNvPr id="24" name="Text 101"/>
          <p:cNvSpPr txBox="1"/>
          <p:nvPr/>
        </p:nvSpPr>
        <p:spPr>
          <a:xfrm>
            <a:off x="8153400" y="3568700"/>
            <a:ext cx="294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 Rice</a:t>
            </a:r>
            <a:endParaRPr lang="en-US" sz="1500" dirty="0"/>
          </a:p>
        </p:txBody>
      </p:sp>
      <p:sp>
        <p:nvSpPr>
          <p:cNvPr id="25" name="Text 102"/>
          <p:cNvSpPr txBox="1"/>
          <p:nvPr/>
        </p:nvSpPr>
        <p:spPr>
          <a:xfrm>
            <a:off x="8153400" y="3822700"/>
            <a:ext cx="294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Deliverability Coach</a:t>
            </a:r>
            <a:endParaRPr lang="en-US" sz="1200" dirty="0"/>
          </a:p>
        </p:txBody>
      </p:sp>
      <p:sp>
        <p:nvSpPr>
          <p:cNvPr id="26" name="Text 103"/>
          <p:cNvSpPr txBox="1"/>
          <p:nvPr/>
        </p:nvSpPr>
        <p:spPr>
          <a:xfrm>
            <a:off x="8153400" y="4025900"/>
            <a:ext cx="294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[email address]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48400"/>
            <a:ext cx="1270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200">
                <a:solidFill>
                  <a:srgbClr val="5B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boxAlly">
  <a:themeElements>
    <a:clrScheme name="InboxAlly">
      <a:dk1>
        <a:srgbClr val="2A2A2A"/>
      </a:dk1>
      <a:lt1>
        <a:srgbClr val="FFFFFF"/>
      </a:lt1>
      <a:dk2>
        <a:srgbClr val="3D4451"/>
      </a:dk2>
      <a:lt2>
        <a:srgbClr val="DDEFFF"/>
      </a:lt2>
      <a:accent1>
        <a:srgbClr val="0063FF"/>
      </a:accent1>
      <a:accent2>
        <a:srgbClr val="FF3334"/>
      </a:accent2>
      <a:accent3>
        <a:srgbClr val="90BDFE"/>
      </a:accent3>
      <a:accent4>
        <a:srgbClr val="F1F0ED"/>
      </a:accent4>
      <a:accent5>
        <a:srgbClr val="5B6472"/>
      </a:accent5>
      <a:accent6>
        <a:srgbClr val="0047BA"/>
      </a:accent6>
      <a:hlink>
        <a:srgbClr val="0063FF"/>
      </a:hlink>
      <a:folHlink>
        <a:srgbClr val="0047BA"/>
      </a:folHlink>
    </a:clrScheme>
    <a:fontScheme name="InboxAlly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InboxAlly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InboxAlly Sales Call Deck</dc:title>
  <dc:subject>PptxGenJS Presentation</dc:subject>
  <dc:creator>PptxGenJS</dc:creator>
  <cp:lastModifiedBy>PptxGenJS</cp:lastModifiedBy>
  <cp:revision>1</cp:revision>
  <dcterms:created xsi:type="dcterms:W3CDTF">2026-10-24T17:28:30Z</dcterms:created>
  <dcterms:modified xsi:type="dcterms:W3CDTF">2026-10-24T17:28:30Z</dcterms:modified>
</cp:coreProperties>
</file>